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9" r:id="rId14"/>
    <p:sldId id="342" r:id="rId15"/>
    <p:sldId id="340" r:id="rId16"/>
    <p:sldId id="341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38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0" r:id="rId45"/>
    <p:sldId id="371" r:id="rId46"/>
    <p:sldId id="372" r:id="rId47"/>
    <p:sldId id="373" r:id="rId48"/>
    <p:sldId id="374" r:id="rId49"/>
    <p:sldId id="37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A46"/>
    <a:srgbClr val="52B788"/>
    <a:srgbClr val="D1F1D9"/>
    <a:srgbClr val="AEC9E5"/>
    <a:srgbClr val="5C6968"/>
    <a:srgbClr val="EE9B00"/>
    <a:srgbClr val="E9D8A6"/>
    <a:srgbClr val="03070C"/>
    <a:srgbClr val="3B0416"/>
    <a:srgbClr val="74C6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5196" autoAdjust="0"/>
  </p:normalViewPr>
  <p:slideViewPr>
    <p:cSldViewPr snapToGrid="0">
      <p:cViewPr varScale="1">
        <p:scale>
          <a:sx n="78" d="100"/>
          <a:sy n="78" d="100"/>
        </p:scale>
        <p:origin x="66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2FD37-ED29-46F0-B767-DDB63940DC3E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CA21E33-F3C5-41BC-BE03-CE7036FE9552}">
      <dgm:prSet phldrT="[Text]"/>
      <dgm:spPr/>
      <dgm:t>
        <a:bodyPr/>
        <a:lstStyle/>
        <a:p>
          <a:r>
            <a:rPr lang="en-IN" dirty="0">
              <a:latin typeface="Alice" pitchFamily="2" charset="0"/>
              <a:ea typeface="Alice" pitchFamily="2" charset="0"/>
            </a:rPr>
            <a:t>BLE</a:t>
          </a:r>
        </a:p>
      </dgm:t>
    </dgm:pt>
    <dgm:pt modelId="{6D76D9DB-B9F5-4804-B647-A3956F64549D}" type="parTrans" cxnId="{E478A4A6-6641-4736-8366-A5BDAB730B61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6B2F0387-0321-456E-80C2-A7963B772922}" type="sibTrans" cxnId="{E478A4A6-6641-4736-8366-A5BDAB730B61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E1459128-4A88-4D46-A723-37D34678921D}">
      <dgm:prSet phldrT="[Text]"/>
      <dgm:spPr/>
      <dgm:t>
        <a:bodyPr/>
        <a:lstStyle/>
        <a:p>
          <a:r>
            <a:rPr lang="en-IN" dirty="0">
              <a:latin typeface="Alice" pitchFamily="2" charset="0"/>
              <a:ea typeface="Alice" pitchFamily="2" charset="0"/>
            </a:rPr>
            <a:t>Application</a:t>
          </a:r>
        </a:p>
      </dgm:t>
    </dgm:pt>
    <dgm:pt modelId="{40F0C9C4-CEB4-47A1-ABC0-2E0394379094}" type="parTrans" cxnId="{1F576B7E-D9D8-47F4-8ABD-577831E51524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65791819-9AC1-4A9D-A94C-AFBC87546583}" type="sibTrans" cxnId="{1F576B7E-D9D8-47F4-8ABD-577831E51524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6E20D8E1-CEC6-46EC-9679-BDAE333E5086}">
      <dgm:prSet phldrT="[Text]"/>
      <dgm:spPr/>
      <dgm:t>
        <a:bodyPr/>
        <a:lstStyle/>
        <a:p>
          <a:r>
            <a:rPr lang="en-IN" dirty="0">
              <a:latin typeface="Alice" pitchFamily="2" charset="0"/>
              <a:ea typeface="Alice" pitchFamily="2" charset="0"/>
            </a:rPr>
            <a:t>Host</a:t>
          </a:r>
        </a:p>
      </dgm:t>
    </dgm:pt>
    <dgm:pt modelId="{6BA27AD3-7A7A-4852-AB0B-4684C6C64C70}" type="parTrans" cxnId="{D6DB88B8-54CA-46BC-BFA1-F0516AE900B5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D59859CD-5340-493F-9AB6-C5747B6C193A}" type="sibTrans" cxnId="{D6DB88B8-54CA-46BC-BFA1-F0516AE900B5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C01F386C-A92F-4713-9D1E-056BB55BFAA1}">
      <dgm:prSet phldrT="[Text]"/>
      <dgm:spPr/>
      <dgm:t>
        <a:bodyPr/>
        <a:lstStyle/>
        <a:p>
          <a:r>
            <a:rPr lang="en-IN" dirty="0">
              <a:latin typeface="Alice" pitchFamily="2" charset="0"/>
              <a:ea typeface="Alice" pitchFamily="2" charset="0"/>
            </a:rPr>
            <a:t>Controller</a:t>
          </a:r>
        </a:p>
      </dgm:t>
    </dgm:pt>
    <dgm:pt modelId="{50A4E8AE-1BB2-4DE0-B400-9580A6AE3C2E}" type="parTrans" cxnId="{1404D0C7-48B9-42D2-AF7F-45AAB7864A17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348B38D2-A793-493F-9F62-29CD64821907}" type="sibTrans" cxnId="{1404D0C7-48B9-42D2-AF7F-45AAB7864A17}">
      <dgm:prSet/>
      <dgm:spPr/>
      <dgm:t>
        <a:bodyPr/>
        <a:lstStyle/>
        <a:p>
          <a:endParaRPr lang="en-IN">
            <a:latin typeface="Alice" pitchFamily="2" charset="0"/>
            <a:ea typeface="Alice" pitchFamily="2" charset="0"/>
          </a:endParaRPr>
        </a:p>
      </dgm:t>
    </dgm:pt>
    <dgm:pt modelId="{661EB53C-CC33-4AE5-A80A-3AEEFF554922}" type="pres">
      <dgm:prSet presAssocID="{7C22FD37-ED29-46F0-B767-DDB63940DC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66809B0-34E4-4B04-AEE6-29EFD446FB1E}" type="pres">
      <dgm:prSet presAssocID="{DCA21E33-F3C5-41BC-BE03-CE7036FE9552}" presName="hierRoot1" presStyleCnt="0">
        <dgm:presLayoutVars>
          <dgm:hierBranch val="init"/>
        </dgm:presLayoutVars>
      </dgm:prSet>
      <dgm:spPr/>
    </dgm:pt>
    <dgm:pt modelId="{6A249F26-1FDE-4518-A0A4-E1ABFAC88E0B}" type="pres">
      <dgm:prSet presAssocID="{DCA21E33-F3C5-41BC-BE03-CE7036FE9552}" presName="rootComposite1" presStyleCnt="0"/>
      <dgm:spPr/>
    </dgm:pt>
    <dgm:pt modelId="{1C39D23C-1384-4D6D-9A12-9BA43EDCC615}" type="pres">
      <dgm:prSet presAssocID="{DCA21E33-F3C5-41BC-BE03-CE7036FE9552}" presName="rootText1" presStyleLbl="node0" presStyleIdx="0" presStyleCnt="1">
        <dgm:presLayoutVars>
          <dgm:chPref val="3"/>
        </dgm:presLayoutVars>
      </dgm:prSet>
      <dgm:spPr/>
    </dgm:pt>
    <dgm:pt modelId="{1A965897-CEBE-442F-81B6-9F3F50A31A1D}" type="pres">
      <dgm:prSet presAssocID="{DCA21E33-F3C5-41BC-BE03-CE7036FE9552}" presName="rootConnector1" presStyleLbl="node1" presStyleIdx="0" presStyleCnt="0"/>
      <dgm:spPr/>
    </dgm:pt>
    <dgm:pt modelId="{6BE74345-4878-4286-9709-E17CF8BB7A9E}" type="pres">
      <dgm:prSet presAssocID="{DCA21E33-F3C5-41BC-BE03-CE7036FE9552}" presName="hierChild2" presStyleCnt="0"/>
      <dgm:spPr/>
    </dgm:pt>
    <dgm:pt modelId="{3F26D5FE-AD3D-49DA-91EF-80C3554401F0}" type="pres">
      <dgm:prSet presAssocID="{40F0C9C4-CEB4-47A1-ABC0-2E0394379094}" presName="Name37" presStyleLbl="parChTrans1D2" presStyleIdx="0" presStyleCnt="3"/>
      <dgm:spPr/>
    </dgm:pt>
    <dgm:pt modelId="{66483CC8-B89A-4F9A-9934-C413590D1B90}" type="pres">
      <dgm:prSet presAssocID="{E1459128-4A88-4D46-A723-37D34678921D}" presName="hierRoot2" presStyleCnt="0">
        <dgm:presLayoutVars>
          <dgm:hierBranch val="init"/>
        </dgm:presLayoutVars>
      </dgm:prSet>
      <dgm:spPr/>
    </dgm:pt>
    <dgm:pt modelId="{7F9CB2C5-301C-4239-A4B7-A9B0F1474535}" type="pres">
      <dgm:prSet presAssocID="{E1459128-4A88-4D46-A723-37D34678921D}" presName="rootComposite" presStyleCnt="0"/>
      <dgm:spPr/>
    </dgm:pt>
    <dgm:pt modelId="{98E3455A-68B6-4940-99AD-9231811515D8}" type="pres">
      <dgm:prSet presAssocID="{E1459128-4A88-4D46-A723-37D34678921D}" presName="rootText" presStyleLbl="node2" presStyleIdx="0" presStyleCnt="3">
        <dgm:presLayoutVars>
          <dgm:chPref val="3"/>
        </dgm:presLayoutVars>
      </dgm:prSet>
      <dgm:spPr/>
    </dgm:pt>
    <dgm:pt modelId="{584976B4-C0F4-4D91-BF88-DA4E357CC322}" type="pres">
      <dgm:prSet presAssocID="{E1459128-4A88-4D46-A723-37D34678921D}" presName="rootConnector" presStyleLbl="node2" presStyleIdx="0" presStyleCnt="3"/>
      <dgm:spPr/>
    </dgm:pt>
    <dgm:pt modelId="{F94715F3-48B2-4F81-B97C-9BC0B634F839}" type="pres">
      <dgm:prSet presAssocID="{E1459128-4A88-4D46-A723-37D34678921D}" presName="hierChild4" presStyleCnt="0"/>
      <dgm:spPr/>
    </dgm:pt>
    <dgm:pt modelId="{610B656C-6716-4E18-B61C-DD76AB88A1DD}" type="pres">
      <dgm:prSet presAssocID="{E1459128-4A88-4D46-A723-37D34678921D}" presName="hierChild5" presStyleCnt="0"/>
      <dgm:spPr/>
    </dgm:pt>
    <dgm:pt modelId="{947C4D58-F216-41B6-808B-131AE3CE1822}" type="pres">
      <dgm:prSet presAssocID="{6BA27AD3-7A7A-4852-AB0B-4684C6C64C70}" presName="Name37" presStyleLbl="parChTrans1D2" presStyleIdx="1" presStyleCnt="3"/>
      <dgm:spPr/>
    </dgm:pt>
    <dgm:pt modelId="{5D362A2F-0B14-44F5-B445-53ED820B5C54}" type="pres">
      <dgm:prSet presAssocID="{6E20D8E1-CEC6-46EC-9679-BDAE333E5086}" presName="hierRoot2" presStyleCnt="0">
        <dgm:presLayoutVars>
          <dgm:hierBranch val="init"/>
        </dgm:presLayoutVars>
      </dgm:prSet>
      <dgm:spPr/>
    </dgm:pt>
    <dgm:pt modelId="{A7B60CC0-A7E5-4CC6-AADC-0291EDD72B45}" type="pres">
      <dgm:prSet presAssocID="{6E20D8E1-CEC6-46EC-9679-BDAE333E5086}" presName="rootComposite" presStyleCnt="0"/>
      <dgm:spPr/>
    </dgm:pt>
    <dgm:pt modelId="{37846D1D-D785-403D-BB48-852BA720E42D}" type="pres">
      <dgm:prSet presAssocID="{6E20D8E1-CEC6-46EC-9679-BDAE333E5086}" presName="rootText" presStyleLbl="node2" presStyleIdx="1" presStyleCnt="3">
        <dgm:presLayoutVars>
          <dgm:chPref val="3"/>
        </dgm:presLayoutVars>
      </dgm:prSet>
      <dgm:spPr/>
    </dgm:pt>
    <dgm:pt modelId="{52C943AC-CE27-4FF0-8944-B390E5C92386}" type="pres">
      <dgm:prSet presAssocID="{6E20D8E1-CEC6-46EC-9679-BDAE333E5086}" presName="rootConnector" presStyleLbl="node2" presStyleIdx="1" presStyleCnt="3"/>
      <dgm:spPr/>
    </dgm:pt>
    <dgm:pt modelId="{38505C20-4A25-4A39-AB46-B0A3FE544C80}" type="pres">
      <dgm:prSet presAssocID="{6E20D8E1-CEC6-46EC-9679-BDAE333E5086}" presName="hierChild4" presStyleCnt="0"/>
      <dgm:spPr/>
    </dgm:pt>
    <dgm:pt modelId="{33C6EB21-8F84-44A1-8BA6-AB22A2C53B70}" type="pres">
      <dgm:prSet presAssocID="{6E20D8E1-CEC6-46EC-9679-BDAE333E5086}" presName="hierChild5" presStyleCnt="0"/>
      <dgm:spPr/>
    </dgm:pt>
    <dgm:pt modelId="{D2C4656E-E61E-4D57-BC53-809AF7FE8B76}" type="pres">
      <dgm:prSet presAssocID="{50A4E8AE-1BB2-4DE0-B400-9580A6AE3C2E}" presName="Name37" presStyleLbl="parChTrans1D2" presStyleIdx="2" presStyleCnt="3"/>
      <dgm:spPr/>
    </dgm:pt>
    <dgm:pt modelId="{D1D37E41-F0A7-4FA0-B4F8-A0EB573B5165}" type="pres">
      <dgm:prSet presAssocID="{C01F386C-A92F-4713-9D1E-056BB55BFAA1}" presName="hierRoot2" presStyleCnt="0">
        <dgm:presLayoutVars>
          <dgm:hierBranch val="init"/>
        </dgm:presLayoutVars>
      </dgm:prSet>
      <dgm:spPr/>
    </dgm:pt>
    <dgm:pt modelId="{FA149615-B978-4455-89CB-8C0C667169FA}" type="pres">
      <dgm:prSet presAssocID="{C01F386C-A92F-4713-9D1E-056BB55BFAA1}" presName="rootComposite" presStyleCnt="0"/>
      <dgm:spPr/>
    </dgm:pt>
    <dgm:pt modelId="{601D7321-9EFD-4E1A-AC8A-8EF89C5204FF}" type="pres">
      <dgm:prSet presAssocID="{C01F386C-A92F-4713-9D1E-056BB55BFAA1}" presName="rootText" presStyleLbl="node2" presStyleIdx="2" presStyleCnt="3">
        <dgm:presLayoutVars>
          <dgm:chPref val="3"/>
        </dgm:presLayoutVars>
      </dgm:prSet>
      <dgm:spPr/>
    </dgm:pt>
    <dgm:pt modelId="{14472540-BE09-40F6-BBDB-BF3D055CC98C}" type="pres">
      <dgm:prSet presAssocID="{C01F386C-A92F-4713-9D1E-056BB55BFAA1}" presName="rootConnector" presStyleLbl="node2" presStyleIdx="2" presStyleCnt="3"/>
      <dgm:spPr/>
    </dgm:pt>
    <dgm:pt modelId="{5C9F0671-5AC1-4F09-8BEB-59B48314CFE2}" type="pres">
      <dgm:prSet presAssocID="{C01F386C-A92F-4713-9D1E-056BB55BFAA1}" presName="hierChild4" presStyleCnt="0"/>
      <dgm:spPr/>
    </dgm:pt>
    <dgm:pt modelId="{67411950-482E-4A8E-A789-6A9DC59FBD18}" type="pres">
      <dgm:prSet presAssocID="{C01F386C-A92F-4713-9D1E-056BB55BFAA1}" presName="hierChild5" presStyleCnt="0"/>
      <dgm:spPr/>
    </dgm:pt>
    <dgm:pt modelId="{82AE8AD3-8545-46BA-A2F0-ECCF3B556040}" type="pres">
      <dgm:prSet presAssocID="{DCA21E33-F3C5-41BC-BE03-CE7036FE9552}" presName="hierChild3" presStyleCnt="0"/>
      <dgm:spPr/>
    </dgm:pt>
  </dgm:ptLst>
  <dgm:cxnLst>
    <dgm:cxn modelId="{DA53810D-9B78-4E98-A1A0-3DF776DBBC32}" type="presOf" srcId="{6E20D8E1-CEC6-46EC-9679-BDAE333E5086}" destId="{37846D1D-D785-403D-BB48-852BA720E42D}" srcOrd="0" destOrd="0" presId="urn:microsoft.com/office/officeart/2005/8/layout/orgChart1"/>
    <dgm:cxn modelId="{C733EA10-A23F-4781-90E6-B5D5E9CA2A53}" type="presOf" srcId="{C01F386C-A92F-4713-9D1E-056BB55BFAA1}" destId="{14472540-BE09-40F6-BBDB-BF3D055CC98C}" srcOrd="1" destOrd="0" presId="urn:microsoft.com/office/officeart/2005/8/layout/orgChart1"/>
    <dgm:cxn modelId="{D0859F2E-5AB6-4131-BCCD-CBBAAC4CE52B}" type="presOf" srcId="{DCA21E33-F3C5-41BC-BE03-CE7036FE9552}" destId="{1A965897-CEBE-442F-81B6-9F3F50A31A1D}" srcOrd="1" destOrd="0" presId="urn:microsoft.com/office/officeart/2005/8/layout/orgChart1"/>
    <dgm:cxn modelId="{5467ED34-E058-46EF-9212-2814377615AF}" type="presOf" srcId="{50A4E8AE-1BB2-4DE0-B400-9580A6AE3C2E}" destId="{D2C4656E-E61E-4D57-BC53-809AF7FE8B76}" srcOrd="0" destOrd="0" presId="urn:microsoft.com/office/officeart/2005/8/layout/orgChart1"/>
    <dgm:cxn modelId="{B2DC7768-B6B4-46AC-B18F-57590C29F411}" type="presOf" srcId="{40F0C9C4-CEB4-47A1-ABC0-2E0394379094}" destId="{3F26D5FE-AD3D-49DA-91EF-80C3554401F0}" srcOrd="0" destOrd="0" presId="urn:microsoft.com/office/officeart/2005/8/layout/orgChart1"/>
    <dgm:cxn modelId="{404C4378-AC45-44B5-90B1-F332B7C214F9}" type="presOf" srcId="{6E20D8E1-CEC6-46EC-9679-BDAE333E5086}" destId="{52C943AC-CE27-4FF0-8944-B390E5C92386}" srcOrd="1" destOrd="0" presId="urn:microsoft.com/office/officeart/2005/8/layout/orgChart1"/>
    <dgm:cxn modelId="{1F576B7E-D9D8-47F4-8ABD-577831E51524}" srcId="{DCA21E33-F3C5-41BC-BE03-CE7036FE9552}" destId="{E1459128-4A88-4D46-A723-37D34678921D}" srcOrd="0" destOrd="0" parTransId="{40F0C9C4-CEB4-47A1-ABC0-2E0394379094}" sibTransId="{65791819-9AC1-4A9D-A94C-AFBC87546583}"/>
    <dgm:cxn modelId="{883F089E-2D91-4A07-8ACA-67F2869EA619}" type="presOf" srcId="{6BA27AD3-7A7A-4852-AB0B-4684C6C64C70}" destId="{947C4D58-F216-41B6-808B-131AE3CE1822}" srcOrd="0" destOrd="0" presId="urn:microsoft.com/office/officeart/2005/8/layout/orgChart1"/>
    <dgm:cxn modelId="{E478A4A6-6641-4736-8366-A5BDAB730B61}" srcId="{7C22FD37-ED29-46F0-B767-DDB63940DC3E}" destId="{DCA21E33-F3C5-41BC-BE03-CE7036FE9552}" srcOrd="0" destOrd="0" parTransId="{6D76D9DB-B9F5-4804-B647-A3956F64549D}" sibTransId="{6B2F0387-0321-456E-80C2-A7963B772922}"/>
    <dgm:cxn modelId="{19B146A9-2C7A-4A3D-8FD9-DA5784CBA149}" type="presOf" srcId="{E1459128-4A88-4D46-A723-37D34678921D}" destId="{584976B4-C0F4-4D91-BF88-DA4E357CC322}" srcOrd="1" destOrd="0" presId="urn:microsoft.com/office/officeart/2005/8/layout/orgChart1"/>
    <dgm:cxn modelId="{D6DB88B8-54CA-46BC-BFA1-F0516AE900B5}" srcId="{DCA21E33-F3C5-41BC-BE03-CE7036FE9552}" destId="{6E20D8E1-CEC6-46EC-9679-BDAE333E5086}" srcOrd="1" destOrd="0" parTransId="{6BA27AD3-7A7A-4852-AB0B-4684C6C64C70}" sibTransId="{D59859CD-5340-493F-9AB6-C5747B6C193A}"/>
    <dgm:cxn modelId="{8EDD72C7-5F0C-4D7D-96FB-EB58AEE8F163}" type="presOf" srcId="{DCA21E33-F3C5-41BC-BE03-CE7036FE9552}" destId="{1C39D23C-1384-4D6D-9A12-9BA43EDCC615}" srcOrd="0" destOrd="0" presId="urn:microsoft.com/office/officeart/2005/8/layout/orgChart1"/>
    <dgm:cxn modelId="{1404D0C7-48B9-42D2-AF7F-45AAB7864A17}" srcId="{DCA21E33-F3C5-41BC-BE03-CE7036FE9552}" destId="{C01F386C-A92F-4713-9D1E-056BB55BFAA1}" srcOrd="2" destOrd="0" parTransId="{50A4E8AE-1BB2-4DE0-B400-9580A6AE3C2E}" sibTransId="{348B38D2-A793-493F-9F62-29CD64821907}"/>
    <dgm:cxn modelId="{15F4B5C8-78F1-4031-8393-40225F3E973A}" type="presOf" srcId="{C01F386C-A92F-4713-9D1E-056BB55BFAA1}" destId="{601D7321-9EFD-4E1A-AC8A-8EF89C5204FF}" srcOrd="0" destOrd="0" presId="urn:microsoft.com/office/officeart/2005/8/layout/orgChart1"/>
    <dgm:cxn modelId="{02DFE1CF-8CA4-4416-B0DC-5A67446CA017}" type="presOf" srcId="{E1459128-4A88-4D46-A723-37D34678921D}" destId="{98E3455A-68B6-4940-99AD-9231811515D8}" srcOrd="0" destOrd="0" presId="urn:microsoft.com/office/officeart/2005/8/layout/orgChart1"/>
    <dgm:cxn modelId="{27BAB2EF-7642-43BD-A50C-F3EF982D483D}" type="presOf" srcId="{7C22FD37-ED29-46F0-B767-DDB63940DC3E}" destId="{661EB53C-CC33-4AE5-A80A-3AEEFF554922}" srcOrd="0" destOrd="0" presId="urn:microsoft.com/office/officeart/2005/8/layout/orgChart1"/>
    <dgm:cxn modelId="{6D3DC552-7D14-4FE3-8C50-53C6AC80691F}" type="presParOf" srcId="{661EB53C-CC33-4AE5-A80A-3AEEFF554922}" destId="{B66809B0-34E4-4B04-AEE6-29EFD446FB1E}" srcOrd="0" destOrd="0" presId="urn:microsoft.com/office/officeart/2005/8/layout/orgChart1"/>
    <dgm:cxn modelId="{303BAEC1-FC34-4CF3-AFED-9DF9650CEE54}" type="presParOf" srcId="{B66809B0-34E4-4B04-AEE6-29EFD446FB1E}" destId="{6A249F26-1FDE-4518-A0A4-E1ABFAC88E0B}" srcOrd="0" destOrd="0" presId="urn:microsoft.com/office/officeart/2005/8/layout/orgChart1"/>
    <dgm:cxn modelId="{8EECDF84-8966-4AFB-9531-1CEE6CCD53BF}" type="presParOf" srcId="{6A249F26-1FDE-4518-A0A4-E1ABFAC88E0B}" destId="{1C39D23C-1384-4D6D-9A12-9BA43EDCC615}" srcOrd="0" destOrd="0" presId="urn:microsoft.com/office/officeart/2005/8/layout/orgChart1"/>
    <dgm:cxn modelId="{9AE8262C-1511-413C-B913-08771FFC6670}" type="presParOf" srcId="{6A249F26-1FDE-4518-A0A4-E1ABFAC88E0B}" destId="{1A965897-CEBE-442F-81B6-9F3F50A31A1D}" srcOrd="1" destOrd="0" presId="urn:microsoft.com/office/officeart/2005/8/layout/orgChart1"/>
    <dgm:cxn modelId="{7B33D0AD-036F-45BB-965C-1A9A5FD23831}" type="presParOf" srcId="{B66809B0-34E4-4B04-AEE6-29EFD446FB1E}" destId="{6BE74345-4878-4286-9709-E17CF8BB7A9E}" srcOrd="1" destOrd="0" presId="urn:microsoft.com/office/officeart/2005/8/layout/orgChart1"/>
    <dgm:cxn modelId="{93F8A1E8-9ECF-458B-B7E0-D1BF45D4C0DB}" type="presParOf" srcId="{6BE74345-4878-4286-9709-E17CF8BB7A9E}" destId="{3F26D5FE-AD3D-49DA-91EF-80C3554401F0}" srcOrd="0" destOrd="0" presId="urn:microsoft.com/office/officeart/2005/8/layout/orgChart1"/>
    <dgm:cxn modelId="{596C00A5-0621-44C0-9985-E8CE88A2D514}" type="presParOf" srcId="{6BE74345-4878-4286-9709-E17CF8BB7A9E}" destId="{66483CC8-B89A-4F9A-9934-C413590D1B90}" srcOrd="1" destOrd="0" presId="urn:microsoft.com/office/officeart/2005/8/layout/orgChart1"/>
    <dgm:cxn modelId="{957D2DED-A08F-41BF-A7DD-38CBE748BA92}" type="presParOf" srcId="{66483CC8-B89A-4F9A-9934-C413590D1B90}" destId="{7F9CB2C5-301C-4239-A4B7-A9B0F1474535}" srcOrd="0" destOrd="0" presId="urn:microsoft.com/office/officeart/2005/8/layout/orgChart1"/>
    <dgm:cxn modelId="{2377A465-5C1E-485E-9D91-913286516436}" type="presParOf" srcId="{7F9CB2C5-301C-4239-A4B7-A9B0F1474535}" destId="{98E3455A-68B6-4940-99AD-9231811515D8}" srcOrd="0" destOrd="0" presId="urn:microsoft.com/office/officeart/2005/8/layout/orgChart1"/>
    <dgm:cxn modelId="{473D2B0F-FA54-4A91-ACAD-3D526F9D9B1C}" type="presParOf" srcId="{7F9CB2C5-301C-4239-A4B7-A9B0F1474535}" destId="{584976B4-C0F4-4D91-BF88-DA4E357CC322}" srcOrd="1" destOrd="0" presId="urn:microsoft.com/office/officeart/2005/8/layout/orgChart1"/>
    <dgm:cxn modelId="{F27366EA-F933-415A-A15D-9E023F3C1F50}" type="presParOf" srcId="{66483CC8-B89A-4F9A-9934-C413590D1B90}" destId="{F94715F3-48B2-4F81-B97C-9BC0B634F839}" srcOrd="1" destOrd="0" presId="urn:microsoft.com/office/officeart/2005/8/layout/orgChart1"/>
    <dgm:cxn modelId="{A6BCA579-46C9-4473-89C7-C3CDA9DF045F}" type="presParOf" srcId="{66483CC8-B89A-4F9A-9934-C413590D1B90}" destId="{610B656C-6716-4E18-B61C-DD76AB88A1DD}" srcOrd="2" destOrd="0" presId="urn:microsoft.com/office/officeart/2005/8/layout/orgChart1"/>
    <dgm:cxn modelId="{AABAEE79-8BBB-4E17-B85C-50D9428064A9}" type="presParOf" srcId="{6BE74345-4878-4286-9709-E17CF8BB7A9E}" destId="{947C4D58-F216-41B6-808B-131AE3CE1822}" srcOrd="2" destOrd="0" presId="urn:microsoft.com/office/officeart/2005/8/layout/orgChart1"/>
    <dgm:cxn modelId="{6E2BAE59-BDD6-48BD-A417-3AE0B782C985}" type="presParOf" srcId="{6BE74345-4878-4286-9709-E17CF8BB7A9E}" destId="{5D362A2F-0B14-44F5-B445-53ED820B5C54}" srcOrd="3" destOrd="0" presId="urn:microsoft.com/office/officeart/2005/8/layout/orgChart1"/>
    <dgm:cxn modelId="{BBECEDE9-F763-43AA-A711-A76FE68E36B4}" type="presParOf" srcId="{5D362A2F-0B14-44F5-B445-53ED820B5C54}" destId="{A7B60CC0-A7E5-4CC6-AADC-0291EDD72B45}" srcOrd="0" destOrd="0" presId="urn:microsoft.com/office/officeart/2005/8/layout/orgChart1"/>
    <dgm:cxn modelId="{A7F32A32-A10E-44F6-82CE-CC8B1032FEB1}" type="presParOf" srcId="{A7B60CC0-A7E5-4CC6-AADC-0291EDD72B45}" destId="{37846D1D-D785-403D-BB48-852BA720E42D}" srcOrd="0" destOrd="0" presId="urn:microsoft.com/office/officeart/2005/8/layout/orgChart1"/>
    <dgm:cxn modelId="{6CF71AF7-ABE5-46F6-89A5-5002058BE793}" type="presParOf" srcId="{A7B60CC0-A7E5-4CC6-AADC-0291EDD72B45}" destId="{52C943AC-CE27-4FF0-8944-B390E5C92386}" srcOrd="1" destOrd="0" presId="urn:microsoft.com/office/officeart/2005/8/layout/orgChart1"/>
    <dgm:cxn modelId="{475BBBF5-EDE2-4429-BDEF-11B4AD09DE52}" type="presParOf" srcId="{5D362A2F-0B14-44F5-B445-53ED820B5C54}" destId="{38505C20-4A25-4A39-AB46-B0A3FE544C80}" srcOrd="1" destOrd="0" presId="urn:microsoft.com/office/officeart/2005/8/layout/orgChart1"/>
    <dgm:cxn modelId="{70164E4E-697F-4BC3-AC9F-D78804929A99}" type="presParOf" srcId="{5D362A2F-0B14-44F5-B445-53ED820B5C54}" destId="{33C6EB21-8F84-44A1-8BA6-AB22A2C53B70}" srcOrd="2" destOrd="0" presId="urn:microsoft.com/office/officeart/2005/8/layout/orgChart1"/>
    <dgm:cxn modelId="{15BFA780-A7B7-485E-922A-D5BF35C15CB0}" type="presParOf" srcId="{6BE74345-4878-4286-9709-E17CF8BB7A9E}" destId="{D2C4656E-E61E-4D57-BC53-809AF7FE8B76}" srcOrd="4" destOrd="0" presId="urn:microsoft.com/office/officeart/2005/8/layout/orgChart1"/>
    <dgm:cxn modelId="{BCE3F46D-7E4E-43FA-A885-FFE4803298C9}" type="presParOf" srcId="{6BE74345-4878-4286-9709-E17CF8BB7A9E}" destId="{D1D37E41-F0A7-4FA0-B4F8-A0EB573B5165}" srcOrd="5" destOrd="0" presId="urn:microsoft.com/office/officeart/2005/8/layout/orgChart1"/>
    <dgm:cxn modelId="{86333E49-25EA-42F6-BBE1-0A4FB8CF4D9E}" type="presParOf" srcId="{D1D37E41-F0A7-4FA0-B4F8-A0EB573B5165}" destId="{FA149615-B978-4455-89CB-8C0C667169FA}" srcOrd="0" destOrd="0" presId="urn:microsoft.com/office/officeart/2005/8/layout/orgChart1"/>
    <dgm:cxn modelId="{25135096-55B3-4814-9BAB-C2A241A89E31}" type="presParOf" srcId="{FA149615-B978-4455-89CB-8C0C667169FA}" destId="{601D7321-9EFD-4E1A-AC8A-8EF89C5204FF}" srcOrd="0" destOrd="0" presId="urn:microsoft.com/office/officeart/2005/8/layout/orgChart1"/>
    <dgm:cxn modelId="{F697ACD6-37F7-4D01-A6C5-281817F2A1FC}" type="presParOf" srcId="{FA149615-B978-4455-89CB-8C0C667169FA}" destId="{14472540-BE09-40F6-BBDB-BF3D055CC98C}" srcOrd="1" destOrd="0" presId="urn:microsoft.com/office/officeart/2005/8/layout/orgChart1"/>
    <dgm:cxn modelId="{79E03467-DC55-4120-B0DF-B25B1D651541}" type="presParOf" srcId="{D1D37E41-F0A7-4FA0-B4F8-A0EB573B5165}" destId="{5C9F0671-5AC1-4F09-8BEB-59B48314CFE2}" srcOrd="1" destOrd="0" presId="urn:microsoft.com/office/officeart/2005/8/layout/orgChart1"/>
    <dgm:cxn modelId="{1C67A6A7-32C2-44DC-8B56-A269F1929B16}" type="presParOf" srcId="{D1D37E41-F0A7-4FA0-B4F8-A0EB573B5165}" destId="{67411950-482E-4A8E-A789-6A9DC59FBD18}" srcOrd="2" destOrd="0" presId="urn:microsoft.com/office/officeart/2005/8/layout/orgChart1"/>
    <dgm:cxn modelId="{232253F9-0C83-4ECD-A331-2DEB34F721A8}" type="presParOf" srcId="{B66809B0-34E4-4B04-AEE6-29EFD446FB1E}" destId="{82AE8AD3-8545-46BA-A2F0-ECCF3B55604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4656E-E61E-4D57-BC53-809AF7FE8B76}">
      <dsp:nvSpPr>
        <dsp:cNvPr id="0" name=""/>
        <dsp:cNvSpPr/>
      </dsp:nvSpPr>
      <dsp:spPr>
        <a:xfrm>
          <a:off x="406400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C4D58-F216-41B6-808B-131AE3CE1822}">
      <dsp:nvSpPr>
        <dsp:cNvPr id="0" name=""/>
        <dsp:cNvSpPr/>
      </dsp:nvSpPr>
      <dsp:spPr>
        <a:xfrm>
          <a:off x="4018280" y="2459823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26D5FE-AD3D-49DA-91EF-80C3554401F0}">
      <dsp:nvSpPr>
        <dsp:cNvPr id="0" name=""/>
        <dsp:cNvSpPr/>
      </dsp:nvSpPr>
      <dsp:spPr>
        <a:xfrm>
          <a:off x="118869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39D23C-1384-4D6D-9A12-9BA43EDCC615}">
      <dsp:nvSpPr>
        <dsp:cNvPr id="0" name=""/>
        <dsp:cNvSpPr/>
      </dsp:nvSpPr>
      <dsp:spPr>
        <a:xfrm>
          <a:off x="2875855" y="1271678"/>
          <a:ext cx="2376289" cy="11881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>
              <a:latin typeface="Alice" pitchFamily="2" charset="0"/>
              <a:ea typeface="Alice" pitchFamily="2" charset="0"/>
            </a:rPr>
            <a:t>BLE</a:t>
          </a:r>
        </a:p>
      </dsp:txBody>
      <dsp:txXfrm>
        <a:off x="2875855" y="1271678"/>
        <a:ext cx="2376289" cy="1188144"/>
      </dsp:txXfrm>
    </dsp:sp>
    <dsp:sp modelId="{98E3455A-68B6-4940-99AD-9231811515D8}">
      <dsp:nvSpPr>
        <dsp:cNvPr id="0" name=""/>
        <dsp:cNvSpPr/>
      </dsp:nvSpPr>
      <dsp:spPr>
        <a:xfrm>
          <a:off x="545" y="2958843"/>
          <a:ext cx="2376289" cy="11881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>
              <a:latin typeface="Alice" pitchFamily="2" charset="0"/>
              <a:ea typeface="Alice" pitchFamily="2" charset="0"/>
            </a:rPr>
            <a:t>Application</a:t>
          </a:r>
        </a:p>
      </dsp:txBody>
      <dsp:txXfrm>
        <a:off x="545" y="2958843"/>
        <a:ext cx="2376289" cy="1188144"/>
      </dsp:txXfrm>
    </dsp:sp>
    <dsp:sp modelId="{37846D1D-D785-403D-BB48-852BA720E42D}">
      <dsp:nvSpPr>
        <dsp:cNvPr id="0" name=""/>
        <dsp:cNvSpPr/>
      </dsp:nvSpPr>
      <dsp:spPr>
        <a:xfrm>
          <a:off x="2875855" y="2958843"/>
          <a:ext cx="2376289" cy="11881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>
              <a:latin typeface="Alice" pitchFamily="2" charset="0"/>
              <a:ea typeface="Alice" pitchFamily="2" charset="0"/>
            </a:rPr>
            <a:t>Host</a:t>
          </a:r>
        </a:p>
      </dsp:txBody>
      <dsp:txXfrm>
        <a:off x="2875855" y="2958843"/>
        <a:ext cx="2376289" cy="1188144"/>
      </dsp:txXfrm>
    </dsp:sp>
    <dsp:sp modelId="{601D7321-9EFD-4E1A-AC8A-8EF89C5204FF}">
      <dsp:nvSpPr>
        <dsp:cNvPr id="0" name=""/>
        <dsp:cNvSpPr/>
      </dsp:nvSpPr>
      <dsp:spPr>
        <a:xfrm>
          <a:off x="5751165" y="2958843"/>
          <a:ext cx="2376289" cy="11881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>
              <a:latin typeface="Alice" pitchFamily="2" charset="0"/>
              <a:ea typeface="Alice" pitchFamily="2" charset="0"/>
            </a:rPr>
            <a:t>Controller</a:t>
          </a:r>
        </a:p>
      </dsp:txBody>
      <dsp:txXfrm>
        <a:off x="5751165" y="2958843"/>
        <a:ext cx="2376289" cy="1188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0FCE-54B8-345E-074B-9E03B2CE4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8983" y="1122363"/>
            <a:ext cx="7064256" cy="2387600"/>
          </a:xfrm>
        </p:spPr>
        <p:txBody>
          <a:bodyPr anchor="b"/>
          <a:lstStyle>
            <a:lvl1pPr algn="r">
              <a:defRPr sz="6000">
                <a:solidFill>
                  <a:srgbClr val="03070C"/>
                </a:solidFill>
                <a:latin typeface="Ephesis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A27F8-2221-D5B7-C33E-A9A1BA035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4489" y="3602038"/>
            <a:ext cx="5348749" cy="107811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03070C"/>
                </a:solidFill>
                <a:latin typeface="Alice" pitchFamily="2" charset="0"/>
                <a:ea typeface="Alice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A07AE-1564-228B-7ECD-5EC413A0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967" y="6492875"/>
            <a:ext cx="1152943" cy="365125"/>
          </a:xfrm>
        </p:spPr>
        <p:txBody>
          <a:bodyPr/>
          <a:lstStyle>
            <a:lvl1pPr algn="r">
              <a:defRPr>
                <a:solidFill>
                  <a:srgbClr val="03070C"/>
                </a:solidFill>
                <a:latin typeface="Alice" pitchFamily="2" charset="0"/>
                <a:ea typeface="Alice" pitchFamily="2" charset="0"/>
              </a:defRPr>
            </a:lvl1pPr>
          </a:lstStyle>
          <a:p>
            <a:r>
              <a:rPr lang="en-IN"/>
              <a:t>N. R. TRIVEDI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5BE45C-7920-3938-EDC1-F4749C715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1327200"/>
            <a:ext cx="4019566" cy="401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5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7DBD-B161-F6E8-50E7-00019E03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136525"/>
            <a:ext cx="11933904" cy="1001559"/>
          </a:xfrm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  <a:latin typeface="Artifika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F7862-8D1C-89F0-6A34-BD90DCCED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5265456"/>
          </a:xfrm>
        </p:spPr>
        <p:txBody>
          <a:bodyPr/>
          <a:lstStyle>
            <a:lvl1pPr marL="354013" indent="-354013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1pPr>
            <a:lvl2pPr marL="719138" indent="-261938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2pPr>
            <a:lvl3pPr marL="1143000" indent="-228600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3pPr>
            <a:lvl4pPr marL="1600200" indent="-228600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4pPr>
            <a:lvl5pPr marL="2057400" indent="-228600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61B4E4-E61C-9367-BA79-54700BCA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967" y="6492875"/>
            <a:ext cx="1152943" cy="365125"/>
          </a:xfrm>
        </p:spPr>
        <p:txBody>
          <a:bodyPr/>
          <a:lstStyle>
            <a:lvl1pPr algn="r">
              <a:defRPr>
                <a:solidFill>
                  <a:schemeClr val="accent5">
                    <a:lumMod val="75000"/>
                  </a:schemeClr>
                </a:solidFill>
                <a:latin typeface="Alice" pitchFamily="2" charset="0"/>
                <a:ea typeface="Alice" pitchFamily="2" charset="0"/>
              </a:defRPr>
            </a:lvl1pPr>
          </a:lstStyle>
          <a:p>
            <a:r>
              <a:rPr lang="en-IN" dirty="0"/>
              <a:t>N. R. TRIVEDI</a:t>
            </a:r>
          </a:p>
        </p:txBody>
      </p:sp>
    </p:spTree>
    <p:extLst>
      <p:ext uri="{BB962C8B-B14F-4D97-AF65-F5344CB8AC3E}">
        <p14:creationId xmlns:p14="http://schemas.microsoft.com/office/powerpoint/2010/main" val="103590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03E4-0CD5-232D-EF29-AA01A9F3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D83B8-4FC8-FE0E-1341-C2A3F9FC3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D471C-3BF0-5850-ACBD-4DCAB5DA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F2F9D-B008-88FC-0454-B5ED0AF0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5272A-B9DE-E34F-B97D-EE77E039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2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5B0B-4239-5C9C-DF5D-B9122A67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949E7-8F15-0A33-8526-E83CD7462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835F6-FA01-E1FA-925A-EA7EE52E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3579E-25B9-BF01-43E5-5DCFB86C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088C2-3B49-F277-C52B-88B8D686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6BCF7-3AA0-D4CB-8CB6-CDA61FBD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2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47F6-AF8B-F107-5340-2B81910A4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FD464-B6BF-ED0B-76AB-C714B9754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BD47B-6FE1-02E7-62D3-20694820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33B4A-DE41-5B90-0FD4-04B2CEDCF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5E2E3-393C-D713-85D3-A3DA0C376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0FDA4-2EF6-4E4B-A472-273B7011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DF656-31BC-9537-A928-A42DF951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568F2-FD4D-B16C-EC28-0E9435DA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FFC4-ACCB-66FE-34B2-246F235E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0E26D-6C5E-1A22-0F7A-4E48B3D4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F2587-125F-A31C-B98B-746C67E2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98E57-46B8-B34C-4DE1-6C175C64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37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C3B1C-C625-57BC-B0E1-8FFA24E3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9B734-213A-AE04-2E0A-058E19CC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414A3-2770-45C1-61C7-DB3EA95C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93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1356-C8C0-9007-C740-C2A3AD55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D83DE-2A0B-320D-D1BB-EACEE967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FB464-7228-6CCD-F681-B8EF3352B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28CB0-ECFD-BE12-C4BB-2633C5D1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EF590-929D-E78D-7658-85D496EF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415A1-DCD4-F013-D3DC-F5DB0E1C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0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552C-7190-CBAA-B001-F6169260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893F2-848F-0F0C-512D-228374C68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F2C21-E661-FC50-88CF-D70A0A15B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02C3A-1145-8C37-0F04-CD9EE39C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AA62C-C549-8906-D915-74A95812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82ADB-4916-F99B-D37F-0A97B97C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77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34A7-E420-FF90-2B75-32BB6AC6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79F63-1348-B0CF-9591-E742061F0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D9D4A-578B-2975-117E-48502BE7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482D-60F1-FEE1-9459-467D19CB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18E6-AE68-3168-5A8B-4822DA9B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6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6E0BA-C00D-3037-269F-EEA3C2DE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82116-1C8B-9D9B-61BD-34FCE9678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75539-D2B8-84B5-0D96-B70F5B024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E258-CBD0-26B6-AB6B-59D44FF8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3DFD1-B014-C470-F12E-84D24F3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02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9D8A6"/>
            </a:gs>
            <a:gs pos="100000">
              <a:srgbClr val="52B78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424A1-6728-A644-52E8-3CBC69DF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6F7E7-FB3E-D7CD-63E8-DD3558D21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A912-646E-3911-7901-71E37013C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8606D-1217-49B8-A81D-F5DD708C7973}" type="datetimeFigureOut">
              <a:rPr lang="en-IN" smtClean="0"/>
              <a:t>03/02/2024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604A0-25BF-DF40-572B-78DD84FE7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1A4F9-2566-A80C-D118-DAE00B44F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51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7661-9523-DD2E-4F76-B638197CF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IoT Communication Protocols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2423E-5C4E-B6F0-DA92-BEB0D68A2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- IV</a:t>
            </a:r>
          </a:p>
        </p:txBody>
      </p:sp>
    </p:spTree>
    <p:extLst>
      <p:ext uri="{BB962C8B-B14F-4D97-AF65-F5344CB8AC3E}">
        <p14:creationId xmlns:p14="http://schemas.microsoft.com/office/powerpoint/2010/main" val="1941368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A0DE-F084-3010-D590-831A6FF7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 to be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D5A4-9D14-95E5-48C4-9868B2A35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Need of various Protocols for IoT Communication</a:t>
            </a:r>
          </a:p>
          <a:p>
            <a:r>
              <a:rPr lang="en-IN" dirty="0"/>
              <a:t>Messaging Protocols: MQTT, CoAP, XMPP</a:t>
            </a:r>
          </a:p>
          <a:p>
            <a:r>
              <a:rPr lang="en-IN" dirty="0"/>
              <a:t>Transport Protocols: BLE, Li-Fi</a:t>
            </a:r>
          </a:p>
          <a:p>
            <a:r>
              <a:rPr lang="en-IN" dirty="0"/>
              <a:t>Sensor Network Topology: Point-to-point, Mesh, Ring, Star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03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CCDD-7B7C-3127-ADAF-B1ACED41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Need of protocols in IoT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F92F-F7E1-17DA-095B-1EA2CD974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IoT systems are generally installed in some remote areas, whereas data processing and controlling is done at some other place.</a:t>
            </a:r>
          </a:p>
          <a:p>
            <a:r>
              <a:rPr lang="en-IN" dirty="0"/>
              <a:t>So there is need for data transmission from one place to another, which is wireless or wired.</a:t>
            </a:r>
          </a:p>
          <a:p>
            <a:r>
              <a:rPr lang="en-IN" dirty="0"/>
              <a:t>But every-time when the communication occurs between different devices, some common set of rules needs to be established</a:t>
            </a:r>
          </a:p>
          <a:p>
            <a:r>
              <a:rPr lang="en-IN" dirty="0"/>
              <a:t> Protocols work for providing a proper communication channel through all the layers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Messaging Protocols: </a:t>
            </a:r>
            <a:r>
              <a:rPr lang="en-IN" dirty="0"/>
              <a:t>For transfer of data.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Transport Protocols: </a:t>
            </a:r>
            <a:r>
              <a:rPr lang="en-IN" dirty="0"/>
              <a:t>For transferring the message from Source to Destination.</a:t>
            </a:r>
          </a:p>
        </p:txBody>
      </p:sp>
    </p:spTree>
    <p:extLst>
      <p:ext uri="{BB962C8B-B14F-4D97-AF65-F5344CB8AC3E}">
        <p14:creationId xmlns:p14="http://schemas.microsoft.com/office/powerpoint/2010/main" val="307793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4CBA-670D-6DFC-C358-F88E2E7D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7D7A-2370-94D6-EBBF-FD1CFF12B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Messaging protocols are very important for the transfer of data in terms of messages.</a:t>
            </a:r>
          </a:p>
          <a:p>
            <a:r>
              <a:rPr lang="en-US" dirty="0"/>
              <a:t>They are useful for send/receive of a message to/from the cloud in IoT applications.</a:t>
            </a:r>
          </a:p>
          <a:p>
            <a:r>
              <a:rPr lang="en-IN" dirty="0"/>
              <a:t>3 protocols are going to be discussed here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MQTT:</a:t>
            </a:r>
            <a:r>
              <a:rPr lang="en-IN" dirty="0"/>
              <a:t> Message Queuing Telemetry Transport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CoAP:</a:t>
            </a:r>
            <a:r>
              <a:rPr lang="en-IN" dirty="0"/>
              <a:t> Constrained Application Protocol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XMPP: </a:t>
            </a:r>
            <a:r>
              <a:rPr lang="en-US" dirty="0"/>
              <a:t>Extensible Messaging and Presence Protocol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EBEC84-CE19-4CDB-4D21-6C75C9D66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3378" y="4826691"/>
            <a:ext cx="1514474" cy="1514474"/>
          </a:xfrm>
          <a:prstGeom prst="rect">
            <a:avLst/>
          </a:prstGeom>
        </p:spPr>
      </p:pic>
      <p:pic>
        <p:nvPicPr>
          <p:cNvPr id="1028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AF43EAD4-40FF-975D-2A89-8D0F9447C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815" y="4895517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483DB1D-359C-1AB3-4B14-C0DB7B065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01" y="5136898"/>
            <a:ext cx="4050890" cy="103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14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7DC1-FAD6-E739-C355-37647DDB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31D0-FF42-636E-62B9-B2B123AE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Message Queuing Telemetry Transport</a:t>
            </a:r>
          </a:p>
          <a:p>
            <a:r>
              <a:rPr lang="en-IN" dirty="0"/>
              <a:t>In IoT biggest challenge is Resource Constraint, so light-weight protocols are needed.</a:t>
            </a:r>
          </a:p>
          <a:p>
            <a:r>
              <a:rPr lang="en-IN" dirty="0"/>
              <a:t>MQTT is one of the widely used protocols which is a very lightweight, meaning this can work with minimal resources and does not require any specific hardware architecture.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3D344250-B27D-0684-C415-CA8F21D44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995" y="471051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89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121D-134B-9564-0FF3-683251F9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 Working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6E1E-D22F-ADE6-F082-3CB5949B0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Works on “Publish – Subscribe” pattern.</a:t>
            </a:r>
          </a:p>
          <a:p>
            <a:pPr lvl="1"/>
            <a:r>
              <a:rPr lang="en-IN" dirty="0"/>
              <a:t>The publisher (node) sends a message to the MQTT Broker</a:t>
            </a:r>
          </a:p>
          <a:p>
            <a:pPr lvl="1"/>
            <a:r>
              <a:rPr lang="en-IN" dirty="0"/>
              <a:t>MQTT Broker transmits the message to the destinations who have subscribed.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96DDB1-8E55-0061-91DA-A44F86CEABAD}"/>
              </a:ext>
            </a:extLst>
          </p:cNvPr>
          <p:cNvGrpSpPr/>
          <p:nvPr/>
        </p:nvGrpSpPr>
        <p:grpSpPr>
          <a:xfrm>
            <a:off x="720457" y="2191467"/>
            <a:ext cx="10282982" cy="4666533"/>
            <a:chOff x="879483" y="2191467"/>
            <a:chExt cx="10282982" cy="46665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C85ADF-8A5E-CFE9-5630-5EA5059B2588}"/>
                </a:ext>
              </a:extLst>
            </p:cNvPr>
            <p:cNvGrpSpPr/>
            <p:nvPr/>
          </p:nvGrpSpPr>
          <p:grpSpPr>
            <a:xfrm>
              <a:off x="879483" y="2191467"/>
              <a:ext cx="10282982" cy="4666533"/>
              <a:chOff x="4837" y="2054941"/>
              <a:chExt cx="10282982" cy="466653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58E0DE-A0D4-B770-A8D2-53DE99E74331}"/>
                  </a:ext>
                </a:extLst>
              </p:cNvPr>
              <p:cNvSpPr/>
              <p:nvPr/>
            </p:nvSpPr>
            <p:spPr>
              <a:xfrm>
                <a:off x="2159819" y="2054941"/>
                <a:ext cx="8128000" cy="4666533"/>
              </a:xfrm>
              <a:prstGeom prst="rect">
                <a:avLst/>
              </a:prstGeom>
              <a:noFill/>
            </p:spPr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DE108AD-AE3A-713C-654E-82548476049C}"/>
                  </a:ext>
                </a:extLst>
              </p:cNvPr>
              <p:cNvSpPr/>
              <p:nvPr/>
            </p:nvSpPr>
            <p:spPr>
              <a:xfrm>
                <a:off x="4837" y="3958086"/>
                <a:ext cx="2388691" cy="728550"/>
              </a:xfrm>
              <a:custGeom>
                <a:avLst/>
                <a:gdLst>
                  <a:gd name="connsiteX0" fmla="*/ 0 w 2388691"/>
                  <a:gd name="connsiteY0" fmla="*/ 0 h 728550"/>
                  <a:gd name="connsiteX1" fmla="*/ 2388691 w 2388691"/>
                  <a:gd name="connsiteY1" fmla="*/ 0 h 728550"/>
                  <a:gd name="connsiteX2" fmla="*/ 2388691 w 2388691"/>
                  <a:gd name="connsiteY2" fmla="*/ 728550 h 728550"/>
                  <a:gd name="connsiteX3" fmla="*/ 0 w 2388691"/>
                  <a:gd name="connsiteY3" fmla="*/ 728550 h 728550"/>
                  <a:gd name="connsiteX4" fmla="*/ 0 w 2388691"/>
                  <a:gd name="connsiteY4" fmla="*/ 0 h 72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691" h="728550">
                    <a:moveTo>
                      <a:pt x="0" y="0"/>
                    </a:moveTo>
                    <a:lnTo>
                      <a:pt x="2388691" y="0"/>
                    </a:lnTo>
                    <a:lnTo>
                      <a:pt x="2388691" y="728550"/>
                    </a:lnTo>
                    <a:lnTo>
                      <a:pt x="0" y="72855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marL="0" lvl="0" indent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3000" kern="1200" dirty="0">
                    <a:latin typeface="Alice" pitchFamily="2" charset="0"/>
                    <a:ea typeface="Alice" pitchFamily="2" charset="0"/>
                  </a:rPr>
                  <a:t>Publisher</a:t>
                </a: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0AF1D09-40D2-5CDC-6143-E222A547CCC9}"/>
                  </a:ext>
                </a:extLst>
              </p:cNvPr>
              <p:cNvSpPr/>
              <p:nvPr/>
            </p:nvSpPr>
            <p:spPr>
              <a:xfrm>
                <a:off x="3607082" y="3956222"/>
                <a:ext cx="2388691" cy="728550"/>
              </a:xfrm>
              <a:custGeom>
                <a:avLst/>
                <a:gdLst>
                  <a:gd name="connsiteX0" fmla="*/ 0 w 2388691"/>
                  <a:gd name="connsiteY0" fmla="*/ 0 h 728550"/>
                  <a:gd name="connsiteX1" fmla="*/ 2388691 w 2388691"/>
                  <a:gd name="connsiteY1" fmla="*/ 0 h 728550"/>
                  <a:gd name="connsiteX2" fmla="*/ 2388691 w 2388691"/>
                  <a:gd name="connsiteY2" fmla="*/ 728550 h 728550"/>
                  <a:gd name="connsiteX3" fmla="*/ 0 w 2388691"/>
                  <a:gd name="connsiteY3" fmla="*/ 728550 h 728550"/>
                  <a:gd name="connsiteX4" fmla="*/ 0 w 2388691"/>
                  <a:gd name="connsiteY4" fmla="*/ 0 h 72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691" h="728550">
                    <a:moveTo>
                      <a:pt x="0" y="0"/>
                    </a:moveTo>
                    <a:lnTo>
                      <a:pt x="2388691" y="0"/>
                    </a:lnTo>
                    <a:lnTo>
                      <a:pt x="2388691" y="728550"/>
                    </a:lnTo>
                    <a:lnTo>
                      <a:pt x="0" y="72855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marL="0" lvl="0" indent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3000" kern="1200" dirty="0">
                    <a:latin typeface="Alice" pitchFamily="2" charset="0"/>
                    <a:ea typeface="Alice" pitchFamily="2" charset="0"/>
                  </a:rPr>
                  <a:t>MQTT Broker</a:t>
                </a: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E71D125-84CB-0477-0243-CBAE05B9FDB3}"/>
                  </a:ext>
                </a:extLst>
              </p:cNvPr>
              <p:cNvSpPr/>
              <p:nvPr/>
            </p:nvSpPr>
            <p:spPr>
              <a:xfrm>
                <a:off x="7895902" y="2483226"/>
                <a:ext cx="2388691" cy="728550"/>
              </a:xfrm>
              <a:custGeom>
                <a:avLst/>
                <a:gdLst>
                  <a:gd name="connsiteX0" fmla="*/ 0 w 2388691"/>
                  <a:gd name="connsiteY0" fmla="*/ 0 h 728550"/>
                  <a:gd name="connsiteX1" fmla="*/ 2388691 w 2388691"/>
                  <a:gd name="connsiteY1" fmla="*/ 0 h 728550"/>
                  <a:gd name="connsiteX2" fmla="*/ 2388691 w 2388691"/>
                  <a:gd name="connsiteY2" fmla="*/ 728550 h 728550"/>
                  <a:gd name="connsiteX3" fmla="*/ 0 w 2388691"/>
                  <a:gd name="connsiteY3" fmla="*/ 728550 h 728550"/>
                  <a:gd name="connsiteX4" fmla="*/ 0 w 2388691"/>
                  <a:gd name="connsiteY4" fmla="*/ 0 h 72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691" h="728550">
                    <a:moveTo>
                      <a:pt x="0" y="0"/>
                    </a:moveTo>
                    <a:lnTo>
                      <a:pt x="2388691" y="0"/>
                    </a:lnTo>
                    <a:lnTo>
                      <a:pt x="2388691" y="728550"/>
                    </a:lnTo>
                    <a:lnTo>
                      <a:pt x="0" y="72855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marL="0" lvl="0" indent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3000" kern="1200" dirty="0">
                    <a:latin typeface="Alice" pitchFamily="2" charset="0"/>
                    <a:ea typeface="Alice" pitchFamily="2" charset="0"/>
                  </a:rPr>
                  <a:t>Subscriber 1</a:t>
                </a: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B3D45DD-EF5A-FE67-DCF2-79A96DE35314}"/>
                  </a:ext>
                </a:extLst>
              </p:cNvPr>
              <p:cNvSpPr/>
              <p:nvPr/>
            </p:nvSpPr>
            <p:spPr>
              <a:xfrm>
                <a:off x="7895902" y="3510363"/>
                <a:ext cx="2388691" cy="728550"/>
              </a:xfrm>
              <a:custGeom>
                <a:avLst/>
                <a:gdLst>
                  <a:gd name="connsiteX0" fmla="*/ 0 w 2388691"/>
                  <a:gd name="connsiteY0" fmla="*/ 0 h 728550"/>
                  <a:gd name="connsiteX1" fmla="*/ 2388691 w 2388691"/>
                  <a:gd name="connsiteY1" fmla="*/ 0 h 728550"/>
                  <a:gd name="connsiteX2" fmla="*/ 2388691 w 2388691"/>
                  <a:gd name="connsiteY2" fmla="*/ 728550 h 728550"/>
                  <a:gd name="connsiteX3" fmla="*/ 0 w 2388691"/>
                  <a:gd name="connsiteY3" fmla="*/ 728550 h 728550"/>
                  <a:gd name="connsiteX4" fmla="*/ 0 w 2388691"/>
                  <a:gd name="connsiteY4" fmla="*/ 0 h 72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691" h="728550">
                    <a:moveTo>
                      <a:pt x="0" y="0"/>
                    </a:moveTo>
                    <a:lnTo>
                      <a:pt x="2388691" y="0"/>
                    </a:lnTo>
                    <a:lnTo>
                      <a:pt x="2388691" y="728550"/>
                    </a:lnTo>
                    <a:lnTo>
                      <a:pt x="0" y="72855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marL="0" lvl="0" indent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3000" kern="1200" dirty="0">
                    <a:latin typeface="Alice" pitchFamily="2" charset="0"/>
                    <a:ea typeface="Alice" pitchFamily="2" charset="0"/>
                  </a:rPr>
                  <a:t>Subscriber 2</a:t>
                </a: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CA7568B-D203-3B53-91BB-2BD61033F3E1}"/>
                  </a:ext>
                </a:extLst>
              </p:cNvPr>
              <p:cNvSpPr/>
              <p:nvPr/>
            </p:nvSpPr>
            <p:spPr>
              <a:xfrm>
                <a:off x="7895902" y="4537500"/>
                <a:ext cx="2388691" cy="728550"/>
              </a:xfrm>
              <a:custGeom>
                <a:avLst/>
                <a:gdLst>
                  <a:gd name="connsiteX0" fmla="*/ 0 w 2388691"/>
                  <a:gd name="connsiteY0" fmla="*/ 0 h 728550"/>
                  <a:gd name="connsiteX1" fmla="*/ 2388691 w 2388691"/>
                  <a:gd name="connsiteY1" fmla="*/ 0 h 728550"/>
                  <a:gd name="connsiteX2" fmla="*/ 2388691 w 2388691"/>
                  <a:gd name="connsiteY2" fmla="*/ 728550 h 728550"/>
                  <a:gd name="connsiteX3" fmla="*/ 0 w 2388691"/>
                  <a:gd name="connsiteY3" fmla="*/ 728550 h 728550"/>
                  <a:gd name="connsiteX4" fmla="*/ 0 w 2388691"/>
                  <a:gd name="connsiteY4" fmla="*/ 0 h 72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691" h="728550">
                    <a:moveTo>
                      <a:pt x="0" y="0"/>
                    </a:moveTo>
                    <a:lnTo>
                      <a:pt x="2388691" y="0"/>
                    </a:lnTo>
                    <a:lnTo>
                      <a:pt x="2388691" y="728550"/>
                    </a:lnTo>
                    <a:lnTo>
                      <a:pt x="0" y="72855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marL="0" lvl="0" indent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3000" kern="1200" dirty="0">
                    <a:latin typeface="Alice" pitchFamily="2" charset="0"/>
                    <a:ea typeface="Alice" pitchFamily="2" charset="0"/>
                  </a:rPr>
                  <a:t>…</a:t>
                </a: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F0156C2-2B4D-2841-2326-DB4BA568100F}"/>
                  </a:ext>
                </a:extLst>
              </p:cNvPr>
              <p:cNvSpPr/>
              <p:nvPr/>
            </p:nvSpPr>
            <p:spPr>
              <a:xfrm>
                <a:off x="7895902" y="5564638"/>
                <a:ext cx="2388691" cy="728550"/>
              </a:xfrm>
              <a:custGeom>
                <a:avLst/>
                <a:gdLst>
                  <a:gd name="connsiteX0" fmla="*/ 0 w 2388691"/>
                  <a:gd name="connsiteY0" fmla="*/ 0 h 728550"/>
                  <a:gd name="connsiteX1" fmla="*/ 2388691 w 2388691"/>
                  <a:gd name="connsiteY1" fmla="*/ 0 h 728550"/>
                  <a:gd name="connsiteX2" fmla="*/ 2388691 w 2388691"/>
                  <a:gd name="connsiteY2" fmla="*/ 728550 h 728550"/>
                  <a:gd name="connsiteX3" fmla="*/ 0 w 2388691"/>
                  <a:gd name="connsiteY3" fmla="*/ 728550 h 728550"/>
                  <a:gd name="connsiteX4" fmla="*/ 0 w 2388691"/>
                  <a:gd name="connsiteY4" fmla="*/ 0 h 72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691" h="728550">
                    <a:moveTo>
                      <a:pt x="0" y="0"/>
                    </a:moveTo>
                    <a:lnTo>
                      <a:pt x="2388691" y="0"/>
                    </a:lnTo>
                    <a:lnTo>
                      <a:pt x="2388691" y="728550"/>
                    </a:lnTo>
                    <a:lnTo>
                      <a:pt x="0" y="72855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marL="0" lvl="0" indent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3000" kern="1200" dirty="0">
                    <a:latin typeface="Alice" pitchFamily="2" charset="0"/>
                    <a:ea typeface="Alice" pitchFamily="2" charset="0"/>
                  </a:rPr>
                  <a:t>Subscriber n</a:t>
                </a:r>
              </a:p>
            </p:txBody>
          </p:sp>
        </p:grp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B5A42423-FA18-E8D2-DFAA-4B4B1843661D}"/>
                </a:ext>
              </a:extLst>
            </p:cNvPr>
            <p:cNvSpPr/>
            <p:nvPr/>
          </p:nvSpPr>
          <p:spPr>
            <a:xfrm>
              <a:off x="3268174" y="4297997"/>
              <a:ext cx="1210328" cy="318051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97E3B8FB-94EA-7F02-CD1B-5568DC49AA76}"/>
                </a:ext>
              </a:extLst>
            </p:cNvPr>
            <p:cNvSpPr/>
            <p:nvPr/>
          </p:nvSpPr>
          <p:spPr>
            <a:xfrm rot="19698687">
              <a:off x="6902273" y="3472276"/>
              <a:ext cx="1882951" cy="445859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C5556553-9A4E-248E-6C90-769F260E9026}"/>
                </a:ext>
              </a:extLst>
            </p:cNvPr>
            <p:cNvSpPr/>
            <p:nvPr/>
          </p:nvSpPr>
          <p:spPr>
            <a:xfrm rot="20587419">
              <a:off x="7129385" y="4067405"/>
              <a:ext cx="1569532" cy="445859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B37DE38-34C9-0166-2A69-18662A192BEA}"/>
                </a:ext>
              </a:extLst>
            </p:cNvPr>
            <p:cNvSpPr/>
            <p:nvPr/>
          </p:nvSpPr>
          <p:spPr>
            <a:xfrm rot="931845">
              <a:off x="7129143" y="4753719"/>
              <a:ext cx="1412444" cy="445859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F8D5BC9B-2353-5237-5962-8AD70475F1A5}"/>
                </a:ext>
              </a:extLst>
            </p:cNvPr>
            <p:cNvSpPr/>
            <p:nvPr/>
          </p:nvSpPr>
          <p:spPr>
            <a:xfrm rot="1590368">
              <a:off x="6785291" y="5261503"/>
              <a:ext cx="1963738" cy="445859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4" name="Picture 6">
            <a:extLst>
              <a:ext uri="{FF2B5EF4-FFF2-40B4-BE49-F238E27FC236}">
                <a16:creationId xmlns:a16="http://schemas.microsoft.com/office/drawing/2014/main" id="{725D46B8-8AEA-38B8-F93D-35A37A72B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6183" y="172960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82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2762-3185-3FA4-7E90-817A2334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72FB-BE15-3F23-2E6F-23A945958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0"/>
            <a:ext cx="11933903" cy="3268973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Suppose a temperature sensor is connected to any system and we want to monitor that temperature.</a:t>
            </a:r>
          </a:p>
          <a:p>
            <a:r>
              <a:rPr lang="en-IN" dirty="0"/>
              <a:t>First of all the sensor will sense the temperature and send it to the controller.</a:t>
            </a:r>
          </a:p>
          <a:p>
            <a:r>
              <a:rPr lang="en-IN" dirty="0"/>
              <a:t>Controller then reads and then it publishes the temperature to the MQTT Broker, where the registration was previously done under a particular ID (ex. Temperature).</a:t>
            </a:r>
          </a:p>
          <a:p>
            <a:r>
              <a:rPr lang="en-IN" dirty="0"/>
              <a:t>Then MQTT Broker will transmit the value of that temperature to all the subscribers who have subscribed to this ID (Temperature).</a:t>
            </a:r>
          </a:p>
          <a:p>
            <a:r>
              <a:rPr lang="en-IN" dirty="0"/>
              <a:t>Here an MQTT Broker can handle multiple IDs, so only those subscribers will get the data of Temperature who have subscribed for this data.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457DD8-F930-8A96-E125-C963EE15A2D8}"/>
              </a:ext>
            </a:extLst>
          </p:cNvPr>
          <p:cNvGrpSpPr/>
          <p:nvPr/>
        </p:nvGrpSpPr>
        <p:grpSpPr>
          <a:xfrm>
            <a:off x="1123118" y="4890053"/>
            <a:ext cx="1401422" cy="1429232"/>
            <a:chOff x="1123118" y="4890053"/>
            <a:chExt cx="1401422" cy="14292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F62DECF-C03D-2E84-07F2-81AABBDBA0CF}"/>
                </a:ext>
              </a:extLst>
            </p:cNvPr>
            <p:cNvSpPr/>
            <p:nvPr/>
          </p:nvSpPr>
          <p:spPr>
            <a:xfrm>
              <a:off x="1123118" y="4890053"/>
              <a:ext cx="1401422" cy="142923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713B59D-8514-1204-EDD9-837D37EEB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7447" y="5178288"/>
              <a:ext cx="852766" cy="852764"/>
            </a:xfrm>
            <a:prstGeom prst="rect">
              <a:avLst/>
            </a:prstGeom>
          </p:spPr>
        </p:pic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EF4FFCBD-5B64-7EBD-644E-FED3D21AAD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958" t="24956" r="28819" b="26696"/>
          <a:stretch/>
        </p:blipFill>
        <p:spPr>
          <a:xfrm>
            <a:off x="4253948" y="4890053"/>
            <a:ext cx="1401423" cy="1429232"/>
          </a:xfrm>
          <a:prstGeom prst="rect">
            <a:avLst/>
          </a:prstGeom>
        </p:spPr>
      </p:pic>
      <p:pic>
        <p:nvPicPr>
          <p:cNvPr id="1032" name="Picture 8" descr="Text Clipart Mobile Phone 5 Clip Art - Cell Icon Png Transparent Png (980x980), Png Download">
            <a:extLst>
              <a:ext uri="{FF2B5EF4-FFF2-40B4-BE49-F238E27FC236}">
                <a16:creationId xmlns:a16="http://schemas.microsoft.com/office/drawing/2014/main" id="{03EA5E74-0977-0303-4EE6-EC554B4A5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813" y="4358307"/>
            <a:ext cx="536714" cy="53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Text Clipart Mobile Phone 5 Clip Art - Cell Icon Png Transparent Png (980x980), Png Download">
            <a:extLst>
              <a:ext uri="{FF2B5EF4-FFF2-40B4-BE49-F238E27FC236}">
                <a16:creationId xmlns:a16="http://schemas.microsoft.com/office/drawing/2014/main" id="{142DA5C4-60FC-65DC-B378-8340202CA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866" y="5396713"/>
            <a:ext cx="536714" cy="53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Text Clipart Mobile Phone 5 Clip Art - Cell Icon Png Transparent Png (980x980), Png Download">
            <a:extLst>
              <a:ext uri="{FF2B5EF4-FFF2-40B4-BE49-F238E27FC236}">
                <a16:creationId xmlns:a16="http://schemas.microsoft.com/office/drawing/2014/main" id="{FD68BD39-C160-A2DB-5ED8-F4A091150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322" y="4387043"/>
            <a:ext cx="536714" cy="53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Text Clipart Mobile Phone 5 Clip Art - Cell Icon Png Transparent Png (980x980), Png Download">
            <a:extLst>
              <a:ext uri="{FF2B5EF4-FFF2-40B4-BE49-F238E27FC236}">
                <a16:creationId xmlns:a16="http://schemas.microsoft.com/office/drawing/2014/main" id="{BDBB5057-EF5E-B9BB-200A-8AFE12326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556" y="6050928"/>
            <a:ext cx="536714" cy="53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9A6A5E-F67F-B624-C45F-0D6538630D0F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>
            <a:off x="2524540" y="5604669"/>
            <a:ext cx="1729408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AFE833-CD7A-E9FB-0EDB-3131C31E835E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655371" y="4655400"/>
            <a:ext cx="732951" cy="58562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217A00-D4B9-C680-DA76-8EBA831D5190}"/>
              </a:ext>
            </a:extLst>
          </p:cNvPr>
          <p:cNvCxnSpPr>
            <a:cxnSpLocks/>
          </p:cNvCxnSpPr>
          <p:nvPr/>
        </p:nvCxnSpPr>
        <p:spPr>
          <a:xfrm flipV="1">
            <a:off x="5655371" y="4706178"/>
            <a:ext cx="4134672" cy="72290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186242-8B84-0BA5-2B02-5E35A7AF8210}"/>
              </a:ext>
            </a:extLst>
          </p:cNvPr>
          <p:cNvCxnSpPr>
            <a:cxnSpLocks/>
          </p:cNvCxnSpPr>
          <p:nvPr/>
        </p:nvCxnSpPr>
        <p:spPr>
          <a:xfrm>
            <a:off x="5685186" y="5604669"/>
            <a:ext cx="3814414" cy="10689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730BA8-1AAF-BF10-242A-23818867305A}"/>
              </a:ext>
            </a:extLst>
          </p:cNvPr>
          <p:cNvCxnSpPr>
            <a:cxnSpLocks/>
          </p:cNvCxnSpPr>
          <p:nvPr/>
        </p:nvCxnSpPr>
        <p:spPr>
          <a:xfrm>
            <a:off x="5655371" y="5796829"/>
            <a:ext cx="2464899" cy="52245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0F0B8E0-5280-1EEC-7A7E-CCCFAAAF1D3D}"/>
              </a:ext>
            </a:extLst>
          </p:cNvPr>
          <p:cNvSpPr txBox="1"/>
          <p:nvPr/>
        </p:nvSpPr>
        <p:spPr>
          <a:xfrm>
            <a:off x="7011177" y="4328600"/>
            <a:ext cx="1712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Subscribed to: </a:t>
            </a:r>
            <a:r>
              <a:rPr lang="en-IN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Temperature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6ABF49-1C95-CAEC-B4AD-5BBC9123B7BD}"/>
              </a:ext>
            </a:extLst>
          </p:cNvPr>
          <p:cNvSpPr txBox="1"/>
          <p:nvPr/>
        </p:nvSpPr>
        <p:spPr>
          <a:xfrm>
            <a:off x="10460653" y="4345918"/>
            <a:ext cx="1712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Subscribed to: </a:t>
            </a:r>
            <a:r>
              <a:rPr lang="en-IN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Temperature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70281C-DFBE-735B-BC70-7BF3CC734EFB}"/>
              </a:ext>
            </a:extLst>
          </p:cNvPr>
          <p:cNvSpPr txBox="1"/>
          <p:nvPr/>
        </p:nvSpPr>
        <p:spPr>
          <a:xfrm>
            <a:off x="9026780" y="6084282"/>
            <a:ext cx="1712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Subscribed to: </a:t>
            </a:r>
            <a:r>
              <a:rPr lang="en-IN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Temperature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144A96-4D4C-03B2-AF49-15961111FFD9}"/>
              </a:ext>
            </a:extLst>
          </p:cNvPr>
          <p:cNvSpPr txBox="1"/>
          <p:nvPr/>
        </p:nvSpPr>
        <p:spPr>
          <a:xfrm>
            <a:off x="10335433" y="5296867"/>
            <a:ext cx="1712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Subscribed to: </a:t>
            </a:r>
            <a:r>
              <a:rPr lang="en-IN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Wind</a:t>
            </a: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1EA7E56C-84CA-C34E-4B4F-0D4E0464397B}"/>
              </a:ext>
            </a:extLst>
          </p:cNvPr>
          <p:cNvSpPr/>
          <p:nvPr/>
        </p:nvSpPr>
        <p:spPr>
          <a:xfrm>
            <a:off x="7435627" y="5296867"/>
            <a:ext cx="805496" cy="715246"/>
          </a:xfrm>
          <a:prstGeom prst="mathMultiply">
            <a:avLst>
              <a:gd name="adj1" fmla="val 9773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78D82F5A-444B-3AF0-4160-D8227E353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995" y="471051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10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BC23-143D-56E4-9520-8DAD737B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8416-8A78-96E8-351E-A8EB19C1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342026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Communication can also be done in a 2-way manner, i.e. Subscriber of one data can be a Publisher of some other data as well.</a:t>
            </a:r>
          </a:p>
          <a:p>
            <a:r>
              <a:rPr lang="en-IN" dirty="0"/>
              <a:t>Self Driving car will Publish location to broker and then to the system/server which is the subscriber of </a:t>
            </a:r>
            <a:r>
              <a:rPr lang="en-IN" dirty="0">
                <a:solidFill>
                  <a:srgbClr val="FF0000"/>
                </a:solidFill>
              </a:rPr>
              <a:t>“</a:t>
            </a:r>
            <a:r>
              <a:rPr lang="en-IN" dirty="0" err="1">
                <a:solidFill>
                  <a:srgbClr val="FF0000"/>
                </a:solidFill>
              </a:rPr>
              <a:t>CurrentLocation</a:t>
            </a:r>
            <a:r>
              <a:rPr lang="en-IN" dirty="0">
                <a:solidFill>
                  <a:srgbClr val="FF0000"/>
                </a:solidFill>
              </a:rPr>
              <a:t>”</a:t>
            </a:r>
            <a:r>
              <a:rPr lang="en-IN" dirty="0"/>
              <a:t>.</a:t>
            </a:r>
          </a:p>
          <a:p>
            <a:r>
              <a:rPr lang="en-IN" dirty="0"/>
              <a:t>Based on the selected destination and current location received, the system/server will publish </a:t>
            </a:r>
            <a:r>
              <a:rPr lang="en-IN" dirty="0">
                <a:solidFill>
                  <a:srgbClr val="FF0000"/>
                </a:solidFill>
              </a:rPr>
              <a:t>“Direction” </a:t>
            </a:r>
            <a:r>
              <a:rPr lang="en-IN" dirty="0"/>
              <a:t>data to MQTT Broker and then to the car (Subscriber of: </a:t>
            </a:r>
            <a:r>
              <a:rPr lang="en-IN" dirty="0">
                <a:solidFill>
                  <a:srgbClr val="FF0000"/>
                </a:solidFill>
              </a:rPr>
              <a:t>Direction</a:t>
            </a:r>
            <a:r>
              <a:rPr lang="en-IN" dirty="0"/>
              <a:t>).</a:t>
            </a:r>
          </a:p>
          <a:p>
            <a:r>
              <a:rPr lang="en-IN" dirty="0"/>
              <a:t>Then the car will turn to the desired direction as per the data received.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981DCA6-004A-80D4-DA36-3B6A8F3B7E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958" t="24956" r="28819" b="26696"/>
          <a:stretch/>
        </p:blipFill>
        <p:spPr>
          <a:xfrm>
            <a:off x="5435588" y="4588758"/>
            <a:ext cx="1208532" cy="1232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2BF4C4-8291-C48C-4A25-0746DDF82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504" y="4500254"/>
            <a:ext cx="1557574" cy="1557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8DD924-B224-C7C1-4589-59FDB6343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00" y="4486564"/>
            <a:ext cx="1436900" cy="14369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0120AA-70C1-1BDE-1B4E-035B599518A0}"/>
              </a:ext>
            </a:extLst>
          </p:cNvPr>
          <p:cNvCxnSpPr>
            <a:cxnSpLocks/>
          </p:cNvCxnSpPr>
          <p:nvPr/>
        </p:nvCxnSpPr>
        <p:spPr>
          <a:xfrm>
            <a:off x="2540000" y="5015242"/>
            <a:ext cx="266722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B03E70-97B9-D564-AFDE-C77BC7CF6BEE}"/>
              </a:ext>
            </a:extLst>
          </p:cNvPr>
          <p:cNvCxnSpPr>
            <a:cxnSpLocks/>
          </p:cNvCxnSpPr>
          <p:nvPr/>
        </p:nvCxnSpPr>
        <p:spPr>
          <a:xfrm>
            <a:off x="6956284" y="5015242"/>
            <a:ext cx="266722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658F38-7829-94E1-98D0-55ECE8082A33}"/>
              </a:ext>
            </a:extLst>
          </p:cNvPr>
          <p:cNvCxnSpPr>
            <a:cxnSpLocks/>
          </p:cNvCxnSpPr>
          <p:nvPr/>
        </p:nvCxnSpPr>
        <p:spPr>
          <a:xfrm flipH="1">
            <a:off x="6956284" y="5360682"/>
            <a:ext cx="2667220" cy="0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C27289-AE41-17AE-6EBC-596C347EE127}"/>
              </a:ext>
            </a:extLst>
          </p:cNvPr>
          <p:cNvCxnSpPr>
            <a:cxnSpLocks/>
          </p:cNvCxnSpPr>
          <p:nvPr/>
        </p:nvCxnSpPr>
        <p:spPr>
          <a:xfrm flipH="1">
            <a:off x="2540000" y="5360682"/>
            <a:ext cx="2667220" cy="0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A84663-52FB-0C8B-64AD-FD230A82763C}"/>
              </a:ext>
            </a:extLst>
          </p:cNvPr>
          <p:cNvSpPr txBox="1"/>
          <p:nvPr/>
        </p:nvSpPr>
        <p:spPr>
          <a:xfrm>
            <a:off x="447356" y="5773018"/>
            <a:ext cx="3057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Publisher: </a:t>
            </a:r>
            <a:r>
              <a:rPr lang="en-IN" dirty="0" err="1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CurrentLocation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Subscriber: </a:t>
            </a:r>
            <a:r>
              <a:rPr lang="en-IN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Direction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4885F-8BB6-4A58-4582-07F0FECC7298}"/>
              </a:ext>
            </a:extLst>
          </p:cNvPr>
          <p:cNvSpPr txBox="1"/>
          <p:nvPr/>
        </p:nvSpPr>
        <p:spPr>
          <a:xfrm>
            <a:off x="8707436" y="5923464"/>
            <a:ext cx="3220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Publisher: </a:t>
            </a:r>
            <a:r>
              <a:rPr lang="en-IN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Direction</a:t>
            </a:r>
          </a:p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Subscriber: </a:t>
            </a:r>
            <a:r>
              <a:rPr lang="en-IN" dirty="0" err="1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CurrentLocation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B04711-6495-CE5A-00B4-B17A5B34135B}"/>
              </a:ext>
            </a:extLst>
          </p:cNvPr>
          <p:cNvSpPr txBox="1"/>
          <p:nvPr/>
        </p:nvSpPr>
        <p:spPr>
          <a:xfrm>
            <a:off x="4926244" y="5913488"/>
            <a:ext cx="2030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MQTT Broker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6C8EE72-3541-41D0-3604-F7789796F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995" y="471051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1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DEE1-696C-33A7-F870-7AC85C54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383D8-A918-6A1C-EEF0-77944BD4F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Here client does not have any address like typical networking.</a:t>
            </a:r>
          </a:p>
          <a:p>
            <a:r>
              <a:rPr lang="en-IN" dirty="0"/>
              <a:t>Broker simply filters messages based on subscribed “Topics”.</a:t>
            </a:r>
          </a:p>
          <a:p>
            <a:r>
              <a:rPr lang="en-IN" dirty="0"/>
              <a:t>Then Message is circulated to respective subscribers like Television broadcasting.</a:t>
            </a:r>
          </a:p>
          <a:p>
            <a:r>
              <a:rPr lang="en-IN" dirty="0"/>
              <a:t>In television broadcasting, a broadcaster will broadcast all the channels and the subscriber can view only channels for which they’ve subscribed.</a:t>
            </a:r>
          </a:p>
          <a:p>
            <a:r>
              <a:rPr lang="en-IN" dirty="0"/>
              <a:t>Topic name is given in a String.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3EEEC-533F-9B48-B53D-B22BAE80C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4423675"/>
            <a:ext cx="1844708" cy="2095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443F98-6700-CDAF-2159-D72EB7E98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938" y="4238279"/>
            <a:ext cx="2659646" cy="2480431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13D087D-FB5F-59F9-DB59-13CEB1AE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995" y="471051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28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883D-38AD-8FF4-24C6-45264109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D5C10-861F-6B22-1579-5E0C7897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Node(s) in MQTT collects the information from sensors or some I/O devices, if it is a publisher.</a:t>
            </a:r>
          </a:p>
          <a:p>
            <a:r>
              <a:rPr lang="en-IN" dirty="0"/>
              <a:t>Connects it to the messaging server MQTT Broker.</a:t>
            </a:r>
          </a:p>
          <a:p>
            <a:r>
              <a:rPr lang="en-IN" dirty="0"/>
              <a:t>A special string – Topic is used to publish and identify the message, this message is relayed to all the subscribers.</a:t>
            </a:r>
          </a:p>
          <a:p>
            <a:r>
              <a:rPr lang="en-IN" dirty="0"/>
              <a:t>Any node can be a subscriber or publisher or both, those are also known as Clients.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F6C078D9-4231-07C4-952B-F51486FA5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995" y="471051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213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33B9-A513-A911-BA0B-CF91E9F6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MQTT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6D95-FA01-2747-C3F9-25189AC26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MQTT server has different configurations to manage </a:t>
            </a:r>
            <a:r>
              <a:rPr lang="en-IN" b="1" dirty="0"/>
              <a:t>QoS</a:t>
            </a:r>
            <a:r>
              <a:rPr lang="en-IN" dirty="0"/>
              <a:t> </a:t>
            </a:r>
            <a:r>
              <a:rPr lang="en-IN" b="1" dirty="0"/>
              <a:t>(Quality of Service)</a:t>
            </a:r>
            <a:r>
              <a:rPr lang="en-IN" dirty="0"/>
              <a:t>.</a:t>
            </a:r>
          </a:p>
          <a:p>
            <a:r>
              <a:rPr lang="en-IN" dirty="0"/>
              <a:t>There are 3 levels of QoS:</a:t>
            </a:r>
          </a:p>
          <a:p>
            <a:pPr lvl="1"/>
            <a:r>
              <a:rPr lang="en-IN" dirty="0"/>
              <a:t>Level 0: </a:t>
            </a:r>
            <a:r>
              <a:rPr lang="en-IN" b="1" dirty="0">
                <a:solidFill>
                  <a:srgbClr val="FF0000"/>
                </a:solidFill>
              </a:rPr>
              <a:t>At most once </a:t>
            </a:r>
            <a:r>
              <a:rPr lang="en-IN" dirty="0"/>
              <a:t>(Best Effort, No Acknowledgement)</a:t>
            </a:r>
          </a:p>
          <a:p>
            <a:pPr lvl="1"/>
            <a:r>
              <a:rPr lang="en-IN" dirty="0"/>
              <a:t>Level 1: </a:t>
            </a:r>
            <a:r>
              <a:rPr lang="en-IN" b="1" dirty="0">
                <a:solidFill>
                  <a:srgbClr val="FF0000"/>
                </a:solidFill>
              </a:rPr>
              <a:t>At least once </a:t>
            </a:r>
            <a:r>
              <a:rPr lang="en-IN" dirty="0"/>
              <a:t>(Acknowledged, retransmitted until acknowledged)</a:t>
            </a:r>
          </a:p>
          <a:p>
            <a:pPr lvl="1"/>
            <a:r>
              <a:rPr lang="en-IN" dirty="0"/>
              <a:t>Level 2: </a:t>
            </a:r>
            <a:r>
              <a:rPr lang="en-IN" b="1" dirty="0">
                <a:solidFill>
                  <a:srgbClr val="FF0000"/>
                </a:solidFill>
              </a:rPr>
              <a:t>Exactly once </a:t>
            </a:r>
            <a:r>
              <a:rPr lang="en-IN" dirty="0"/>
              <a:t>(Request to send, Clear to send)</a:t>
            </a:r>
          </a:p>
          <a:p>
            <a:r>
              <a:rPr lang="en-IN" dirty="0"/>
              <a:t>Some Cloud based web service providers/brokers for MQTT are available.</a:t>
            </a:r>
          </a:p>
          <a:p>
            <a:pPr lvl="1"/>
            <a:r>
              <a:rPr lang="en-IN" dirty="0" err="1"/>
              <a:t>HiveMQ</a:t>
            </a:r>
            <a:endParaRPr lang="en-IN" dirty="0"/>
          </a:p>
          <a:p>
            <a:pPr lvl="1"/>
            <a:r>
              <a:rPr lang="en-IN" dirty="0"/>
              <a:t>Eclipse MQTT</a:t>
            </a:r>
          </a:p>
          <a:p>
            <a:pPr lvl="1"/>
            <a:r>
              <a:rPr lang="en-IN" dirty="0"/>
              <a:t>EMQX</a:t>
            </a:r>
          </a:p>
          <a:p>
            <a:pPr lvl="1"/>
            <a:r>
              <a:rPr lang="en-IN" dirty="0" err="1"/>
              <a:t>jMQTT</a:t>
            </a:r>
            <a:endParaRPr lang="en-IN" dirty="0"/>
          </a:p>
          <a:p>
            <a:pPr lvl="1"/>
            <a:r>
              <a:rPr lang="en-IN" dirty="0" err="1"/>
              <a:t>Mosquitto</a:t>
            </a:r>
            <a:endParaRPr lang="en-IN" dirty="0"/>
          </a:p>
          <a:p>
            <a:pPr lvl="1"/>
            <a:r>
              <a:rPr lang="en-IN" dirty="0"/>
              <a:t>Cloud MQTT etc.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8BD3B1E-2A85-2E38-4F2F-C7921B80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995" y="471051"/>
            <a:ext cx="1305540" cy="33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6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2B1A-6316-6538-BE37-01D51EBD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D8ED-44C2-5015-37F0-AA463C86B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Constrained Application Protocol, designed by IETF (Internet Engineer Task Force), to work in a constrained environment </a:t>
            </a:r>
            <a:r>
              <a:rPr lang="en-US" dirty="0"/>
              <a:t>such as those with low-bandwidth, high-latency, or limited processing power</a:t>
            </a:r>
            <a:r>
              <a:rPr lang="en-IN" dirty="0"/>
              <a:t>.</a:t>
            </a:r>
          </a:p>
          <a:p>
            <a:r>
              <a:rPr lang="en-IN" dirty="0"/>
              <a:t>It is a one-to-one communication protocol.</a:t>
            </a:r>
          </a:p>
          <a:p>
            <a:r>
              <a:rPr lang="en-IN" dirty="0"/>
              <a:t>It is lightweight like MQTT and uses less resources than HTTP.</a:t>
            </a:r>
          </a:p>
          <a:p>
            <a:r>
              <a:rPr lang="en-IN" dirty="0"/>
              <a:t>HTTP runs over TCP, Connection-Oriented, where CoAP runs over UDP, Connection-less.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6C31B-0C68-78F9-C873-1E4F345F0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236" y="4021394"/>
            <a:ext cx="5450654" cy="2709020"/>
          </a:xfrm>
          <a:prstGeom prst="rect">
            <a:avLst/>
          </a:prstGeom>
        </p:spPr>
      </p:pic>
      <p:pic>
        <p:nvPicPr>
          <p:cNvPr id="6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6539FAD5-5329-991F-3D09-E252DCFC2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49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A1C2-BA1D-3F79-45AC-3F68A081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17B81-415F-EAAF-589E-80A2C7D5B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CoAP is based on the RESTful architecture (Representational State Transfer).</a:t>
            </a:r>
          </a:p>
          <a:p>
            <a:r>
              <a:rPr lang="en-IN" dirty="0"/>
              <a:t>REST approach ensures the secure, fault tolerant and scalable system.</a:t>
            </a:r>
          </a:p>
          <a:p>
            <a:r>
              <a:rPr lang="en-IN" dirty="0"/>
              <a:t>The CoAP optimizes the length of the datagram.</a:t>
            </a:r>
          </a:p>
          <a:p>
            <a:r>
              <a:rPr lang="en-IN" dirty="0"/>
              <a:t>CoAP is connectionless protocol and it requires retransmission support.</a:t>
            </a:r>
          </a:p>
          <a:p>
            <a:endParaRPr lang="en-IN" dirty="0"/>
          </a:p>
        </p:txBody>
      </p:sp>
      <p:pic>
        <p:nvPicPr>
          <p:cNvPr id="4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B2E69896-FEDA-CA4F-959B-63ADE5E59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231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D398-D814-2789-ABC2-EECA48FD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995B6-A0B6-4318-FB1A-80190085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Some characteristics include: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RESTful protocol: </a:t>
            </a:r>
            <a:r>
              <a:rPr lang="en-IN" dirty="0"/>
              <a:t>Works on REST Principles, hence suitable for building scalable and resource-oriented applications.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UDP as Transport protocol: </a:t>
            </a:r>
            <a:r>
              <a:rPr lang="en-IN" dirty="0"/>
              <a:t>Lightweight and connectionless, suitable for IoT applications.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Low Overhead: </a:t>
            </a:r>
            <a:r>
              <a:rPr lang="en-IN" dirty="0"/>
              <a:t>Protocol specific overhead is less to conserve resources, designed to be efficient int terms of message size and processing requirements.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Request-Response model: </a:t>
            </a:r>
            <a:r>
              <a:rPr lang="en-IN" dirty="0"/>
              <a:t>Similar to HTTP – Client -&gt; Requests, Server -&gt; Responds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Observing Resource: </a:t>
            </a:r>
            <a:r>
              <a:rPr lang="en-IN" dirty="0"/>
              <a:t>Allows clients to receive message from server, whenever a resource changes its state.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URI Support: </a:t>
            </a:r>
            <a:r>
              <a:rPr lang="en-IN" dirty="0"/>
              <a:t>URI model is used to identify resources over the network, similar to URLs in HTTP.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Security:</a:t>
            </a:r>
            <a:r>
              <a:rPr lang="en-IN" dirty="0"/>
              <a:t> Uses DTLS (Datagram Transport Layer Security), ensuring Confidentiality and Integrity.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Multicast Support: </a:t>
            </a:r>
            <a:r>
              <a:rPr lang="en-IN" dirty="0"/>
              <a:t>Allows single message to be sent to multiple clients.</a:t>
            </a:r>
          </a:p>
        </p:txBody>
      </p:sp>
      <p:pic>
        <p:nvPicPr>
          <p:cNvPr id="4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E74EC147-8A1C-C52A-7A6F-BD6B8C8B7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515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C8F0-9E4C-9B4C-C412-23AED4FE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7FBA1-CBE2-2A8C-BCE7-2C9213080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6998111" cy="5265456"/>
          </a:xfrm>
        </p:spPr>
        <p:txBody>
          <a:bodyPr>
            <a:normAutofit/>
          </a:bodyPr>
          <a:lstStyle/>
          <a:p>
            <a:r>
              <a:rPr lang="en-IN" sz="3200" dirty="0"/>
              <a:t>CoAP has 4 layers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</a:rPr>
              <a:t>UDP :</a:t>
            </a:r>
            <a:r>
              <a:rPr lang="en-IN" sz="2800" dirty="0"/>
              <a:t> Responsible for Transmitting/ Receiving the messages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</a:rPr>
              <a:t>Messages:</a:t>
            </a:r>
            <a:r>
              <a:rPr lang="en-IN" sz="2800" dirty="0"/>
              <a:t> Deals with UDP layer and asynchronous switching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</a:rPr>
              <a:t>Request-Response:</a:t>
            </a:r>
            <a:r>
              <a:rPr lang="en-IN" sz="2800" dirty="0"/>
              <a:t> Concerns communication methods to deal with messages, client can use GET/PUT/DELETE methods to transmit the message.</a:t>
            </a:r>
          </a:p>
          <a:p>
            <a:pPr lvl="1"/>
            <a:r>
              <a:rPr lang="en-IN" sz="2800" b="1" dirty="0">
                <a:solidFill>
                  <a:srgbClr val="FF0000"/>
                </a:solidFill>
              </a:rPr>
              <a:t>Application:</a:t>
            </a:r>
            <a:r>
              <a:rPr lang="en-IN" sz="2800" dirty="0"/>
              <a:t> The higher layer for interaction with the user</a:t>
            </a:r>
          </a:p>
          <a:p>
            <a:endParaRPr lang="en-IN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BFBC23-9C91-EFE2-0B26-9D3230433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757453"/>
              </p:ext>
            </p:extLst>
          </p:nvPr>
        </p:nvGraphicFramePr>
        <p:xfrm>
          <a:off x="7511848" y="1253330"/>
          <a:ext cx="4447458" cy="48328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47458">
                  <a:extLst>
                    <a:ext uri="{9D8B030D-6E8A-4147-A177-3AD203B41FA5}">
                      <a16:colId xmlns:a16="http://schemas.microsoft.com/office/drawing/2014/main" val="4023731395"/>
                    </a:ext>
                  </a:extLst>
                </a:gridCol>
              </a:tblGrid>
              <a:tr h="120820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481511"/>
                  </a:ext>
                </a:extLst>
              </a:tr>
              <a:tr h="120820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Request-Response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713113"/>
                  </a:ext>
                </a:extLst>
              </a:tr>
              <a:tr h="120820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Messages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002641"/>
                  </a:ext>
                </a:extLst>
              </a:tr>
              <a:tr h="120820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UDP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864169"/>
                  </a:ext>
                </a:extLst>
              </a:tr>
            </a:tbl>
          </a:graphicData>
        </a:graphic>
      </p:graphicFrame>
      <p:pic>
        <p:nvPicPr>
          <p:cNvPr id="5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6B756CDA-D0F6-25A0-E50F-AB70E87F7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456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1B87-59DF-21FC-AF8B-107688BB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318E-5988-4213-5773-822B9C58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7430730" cy="5265456"/>
          </a:xfrm>
        </p:spPr>
        <p:txBody>
          <a:bodyPr/>
          <a:lstStyle/>
          <a:p>
            <a:r>
              <a:rPr lang="en-IN" dirty="0"/>
              <a:t>CoAP message layer supports  4 types of messages:</a:t>
            </a:r>
          </a:p>
          <a:p>
            <a:r>
              <a:rPr lang="en-IN" b="1" dirty="0" err="1">
                <a:solidFill>
                  <a:srgbClr val="FF0000"/>
                </a:solidFill>
              </a:rPr>
              <a:t>CONfitmable</a:t>
            </a:r>
            <a:r>
              <a:rPr lang="en-IN" b="1" dirty="0">
                <a:solidFill>
                  <a:srgbClr val="FF0000"/>
                </a:solidFill>
              </a:rPr>
              <a:t> – Reliable </a:t>
            </a:r>
            <a:r>
              <a:rPr lang="en-IN" b="1" dirty="0" err="1">
                <a:solidFill>
                  <a:srgbClr val="FF0000"/>
                </a:solidFill>
              </a:rPr>
              <a:t>Messagging</a:t>
            </a:r>
            <a:r>
              <a:rPr lang="en-IN" b="1" dirty="0">
                <a:solidFill>
                  <a:srgbClr val="FF0000"/>
                </a:solidFill>
              </a:rPr>
              <a:t> (CON):</a:t>
            </a:r>
          </a:p>
          <a:p>
            <a:pPr lvl="1"/>
            <a:r>
              <a:rPr lang="en-IN" dirty="0"/>
              <a:t>Here Acknowledgement is </a:t>
            </a:r>
            <a:r>
              <a:rPr lang="en-IN" dirty="0" err="1"/>
              <a:t>recieved</a:t>
            </a:r>
            <a:r>
              <a:rPr lang="en-IN" dirty="0"/>
              <a:t> from the Server.</a:t>
            </a:r>
          </a:p>
          <a:p>
            <a:pPr lvl="1"/>
            <a:r>
              <a:rPr lang="en-IN" dirty="0"/>
              <a:t>If timed-out or Fail of </a:t>
            </a:r>
            <a:r>
              <a:rPr lang="en-IN" dirty="0" err="1"/>
              <a:t>Acnowledgement</a:t>
            </a:r>
            <a:r>
              <a:rPr lang="en-IN" dirty="0"/>
              <a:t> occurs, RST message from the server is sent as a response and the client will retransmit.</a:t>
            </a:r>
          </a:p>
          <a:p>
            <a:pPr lvl="1"/>
            <a:r>
              <a:rPr lang="en-IN" dirty="0"/>
              <a:t>Each message has a unique ID to Identify the acknowledgement received.</a:t>
            </a:r>
          </a:p>
          <a:p>
            <a:pPr lvl="1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24470B-1E5D-D6E3-8E9E-F419F98260BA}"/>
              </a:ext>
            </a:extLst>
          </p:cNvPr>
          <p:cNvSpPr/>
          <p:nvPr/>
        </p:nvSpPr>
        <p:spPr>
          <a:xfrm>
            <a:off x="7816645" y="1253331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C60527-2B8F-5174-2981-9AC9E8EB6D42}"/>
              </a:ext>
            </a:extLst>
          </p:cNvPr>
          <p:cNvSpPr/>
          <p:nvPr/>
        </p:nvSpPr>
        <p:spPr>
          <a:xfrm>
            <a:off x="10132142" y="1253330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B9EC8F-58C4-D993-68F9-94154961E4E8}"/>
              </a:ext>
            </a:extLst>
          </p:cNvPr>
          <p:cNvCxnSpPr>
            <a:stCxn id="4" idx="4"/>
          </p:cNvCxnSpPr>
          <p:nvPr/>
        </p:nvCxnSpPr>
        <p:spPr>
          <a:xfrm flipH="1">
            <a:off x="8593394" y="2254890"/>
            <a:ext cx="22122" cy="305452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B606C3-EE34-634B-3424-246E01965237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0931013" y="2254889"/>
            <a:ext cx="0" cy="312335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7F214A-7949-A99A-4AE5-33A239C3AD84}"/>
              </a:ext>
            </a:extLst>
          </p:cNvPr>
          <p:cNvCxnSpPr/>
          <p:nvPr/>
        </p:nvCxnSpPr>
        <p:spPr>
          <a:xfrm>
            <a:off x="8615516" y="2989006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5CC13-58AB-9ED9-2F65-6647A737ED46}"/>
              </a:ext>
            </a:extLst>
          </p:cNvPr>
          <p:cNvSpPr txBox="1"/>
          <p:nvPr/>
        </p:nvSpPr>
        <p:spPr>
          <a:xfrm>
            <a:off x="8876076" y="2646360"/>
            <a:ext cx="179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pic>
        <p:nvPicPr>
          <p:cNvPr id="14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B14F592A-50B4-B173-49F4-0F2AEB09C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13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2F2A-7B31-8D6C-5084-ED1D16F62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2048-D4EE-C71C-ADC9-5A1E190F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BD69-E2A5-58A8-A078-33458E30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7430730" cy="526545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NON-Confirmable – Non-reliable Messaging (NON):</a:t>
            </a:r>
          </a:p>
          <a:p>
            <a:pPr lvl="1"/>
            <a:r>
              <a:rPr lang="en-IN" dirty="0"/>
              <a:t>No reliability is ensured, as there is no acknowledgement by the server.</a:t>
            </a:r>
          </a:p>
          <a:p>
            <a:pPr lvl="1"/>
            <a:r>
              <a:rPr lang="en-IN" dirty="0"/>
              <a:t>Message has ID to unique each one individually.</a:t>
            </a:r>
          </a:p>
          <a:p>
            <a:pPr lvl="1"/>
            <a:r>
              <a:rPr lang="en-IN" dirty="0"/>
              <a:t>If the message is not processed by server, RST response is transmitted.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0875D1-942C-ABC7-DFAC-196ACCD4FA72}"/>
              </a:ext>
            </a:extLst>
          </p:cNvPr>
          <p:cNvSpPr/>
          <p:nvPr/>
        </p:nvSpPr>
        <p:spPr>
          <a:xfrm>
            <a:off x="7816645" y="1253331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81518C-EA0C-6D46-8874-92A19C1E5990}"/>
              </a:ext>
            </a:extLst>
          </p:cNvPr>
          <p:cNvSpPr/>
          <p:nvPr/>
        </p:nvSpPr>
        <p:spPr>
          <a:xfrm>
            <a:off x="10132142" y="1253330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70AAC4-5429-5CBA-95CD-43598A8E41F7}"/>
              </a:ext>
            </a:extLst>
          </p:cNvPr>
          <p:cNvCxnSpPr>
            <a:stCxn id="6" idx="4"/>
          </p:cNvCxnSpPr>
          <p:nvPr/>
        </p:nvCxnSpPr>
        <p:spPr>
          <a:xfrm flipH="1">
            <a:off x="8593394" y="2254890"/>
            <a:ext cx="22122" cy="305452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0759E4-C558-9B45-1658-84F814CE9623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10931013" y="2254889"/>
            <a:ext cx="0" cy="312335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A284A9-DD5E-1489-47B0-D888BFECE5BD}"/>
              </a:ext>
            </a:extLst>
          </p:cNvPr>
          <p:cNvCxnSpPr/>
          <p:nvPr/>
        </p:nvCxnSpPr>
        <p:spPr>
          <a:xfrm>
            <a:off x="8615516" y="2989006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C983895-9CE9-D306-9256-5F6956E0F8ED}"/>
              </a:ext>
            </a:extLst>
          </p:cNvPr>
          <p:cNvSpPr txBox="1"/>
          <p:nvPr/>
        </p:nvSpPr>
        <p:spPr>
          <a:xfrm>
            <a:off x="8876076" y="2646360"/>
            <a:ext cx="179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NON (</a:t>
            </a:r>
            <a:r>
              <a:rPr lang="en-IN" dirty="0" err="1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Msg</a:t>
            </a:r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 ID)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pic>
        <p:nvPicPr>
          <p:cNvPr id="16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21A05F70-22C9-0FCB-E172-C4B572ED9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447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2EAA-7A3F-B151-AD9C-D86CC565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9C4F-290D-070E-7B9E-4593DDE3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70DE-D0FE-376D-5E02-333751D3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7430730" cy="5265456"/>
          </a:xfrm>
        </p:spPr>
        <p:txBody>
          <a:bodyPr/>
          <a:lstStyle/>
          <a:p>
            <a:r>
              <a:rPr lang="en-IN" b="1" dirty="0" err="1">
                <a:solidFill>
                  <a:srgbClr val="FF0000"/>
                </a:solidFill>
              </a:rPr>
              <a:t>ACKnowledgement</a:t>
            </a:r>
            <a:r>
              <a:rPr lang="en-IN" b="1" dirty="0">
                <a:solidFill>
                  <a:srgbClr val="FF0000"/>
                </a:solidFill>
              </a:rPr>
              <a:t> (ACK):</a:t>
            </a:r>
          </a:p>
          <a:p>
            <a:pPr lvl="1"/>
            <a:r>
              <a:rPr lang="en-IN" dirty="0"/>
              <a:t>Like traditional messaging, an acknowledgement message is sent to the client.</a:t>
            </a:r>
          </a:p>
          <a:p>
            <a:pPr lvl="1"/>
            <a:r>
              <a:rPr lang="en-IN" dirty="0"/>
              <a:t>Similar to simple handshaking.</a:t>
            </a:r>
          </a:p>
          <a:p>
            <a:pPr lvl="1"/>
            <a:r>
              <a:rPr lang="en-IN" dirty="0"/>
              <a:t>ACK denotes that the message is successfully processed in server without any errors/issues.</a:t>
            </a:r>
          </a:p>
          <a:p>
            <a:pPr lvl="1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30660B-E296-9440-D37D-DBF4F4C20A40}"/>
              </a:ext>
            </a:extLst>
          </p:cNvPr>
          <p:cNvSpPr/>
          <p:nvPr/>
        </p:nvSpPr>
        <p:spPr>
          <a:xfrm>
            <a:off x="7816645" y="1253331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62534C-0335-F88F-0C2C-F2F0D9820F46}"/>
              </a:ext>
            </a:extLst>
          </p:cNvPr>
          <p:cNvSpPr/>
          <p:nvPr/>
        </p:nvSpPr>
        <p:spPr>
          <a:xfrm>
            <a:off x="10132142" y="1253330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C51906-A660-B1E5-2403-19C5E72DC5A4}"/>
              </a:ext>
            </a:extLst>
          </p:cNvPr>
          <p:cNvCxnSpPr>
            <a:stCxn id="4" idx="4"/>
          </p:cNvCxnSpPr>
          <p:nvPr/>
        </p:nvCxnSpPr>
        <p:spPr>
          <a:xfrm flipH="1">
            <a:off x="8593394" y="2254890"/>
            <a:ext cx="22122" cy="305452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D07967-BABF-9473-037C-4147CF1D29DD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0931013" y="2254889"/>
            <a:ext cx="0" cy="312335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DF7D35-32BE-9E79-F9C5-490BFB35C061}"/>
              </a:ext>
            </a:extLst>
          </p:cNvPr>
          <p:cNvCxnSpPr/>
          <p:nvPr/>
        </p:nvCxnSpPr>
        <p:spPr>
          <a:xfrm>
            <a:off x="8615516" y="2989006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05EE64-314F-0B59-56E6-158A51CBB50A}"/>
              </a:ext>
            </a:extLst>
          </p:cNvPr>
          <p:cNvSpPr txBox="1"/>
          <p:nvPr/>
        </p:nvSpPr>
        <p:spPr>
          <a:xfrm>
            <a:off x="8876076" y="2646360"/>
            <a:ext cx="179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3E27FB-9B07-31CA-3504-D44650F091AE}"/>
              </a:ext>
            </a:extLst>
          </p:cNvPr>
          <p:cNvCxnSpPr>
            <a:cxnSpLocks/>
          </p:cNvCxnSpPr>
          <p:nvPr/>
        </p:nvCxnSpPr>
        <p:spPr>
          <a:xfrm flipH="1">
            <a:off x="8615516" y="4039576"/>
            <a:ext cx="23154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14E926-C0DC-A988-9AC0-00A4DC372007}"/>
              </a:ext>
            </a:extLst>
          </p:cNvPr>
          <p:cNvSpPr txBox="1"/>
          <p:nvPr/>
        </p:nvSpPr>
        <p:spPr>
          <a:xfrm>
            <a:off x="8851495" y="3684328"/>
            <a:ext cx="179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ACK (ADDR)</a:t>
            </a:r>
          </a:p>
        </p:txBody>
      </p:sp>
      <p:pic>
        <p:nvPicPr>
          <p:cNvPr id="21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B3860A49-554A-E901-3D7F-7C623C42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990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6EB90-CFA7-FFA9-CFF7-863B8A04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D804-53CD-6067-FB17-900185F04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7DE82-8C89-1267-896D-346436CD9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7430730" cy="5265456"/>
          </a:xfrm>
        </p:spPr>
        <p:txBody>
          <a:bodyPr/>
          <a:lstStyle/>
          <a:p>
            <a:r>
              <a:rPr lang="en-IN" b="1" dirty="0" err="1">
                <a:solidFill>
                  <a:srgbClr val="FF0000"/>
                </a:solidFill>
              </a:rPr>
              <a:t>ReSeT</a:t>
            </a:r>
            <a:r>
              <a:rPr lang="en-IN" b="1" dirty="0">
                <a:solidFill>
                  <a:srgbClr val="FF0000"/>
                </a:solidFill>
              </a:rPr>
              <a:t> (RST):</a:t>
            </a:r>
          </a:p>
          <a:p>
            <a:pPr lvl="1"/>
            <a:r>
              <a:rPr lang="en-IN" dirty="0"/>
              <a:t>If server encounters some issue processing the message, server sends and RST message to the client.</a:t>
            </a:r>
          </a:p>
          <a:p>
            <a:pPr lvl="1"/>
            <a:r>
              <a:rPr lang="en-IN" dirty="0"/>
              <a:t>It informs the client that the message with the ID which was last sent should be disregarded.</a:t>
            </a:r>
          </a:p>
          <a:p>
            <a:pPr lvl="1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DC4ACB-C752-5C26-F2F4-2145807D1553}"/>
              </a:ext>
            </a:extLst>
          </p:cNvPr>
          <p:cNvSpPr/>
          <p:nvPr/>
        </p:nvSpPr>
        <p:spPr>
          <a:xfrm>
            <a:off x="7816645" y="1253331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FB7620-BE5C-E789-BA73-FF5A1A56CA59}"/>
              </a:ext>
            </a:extLst>
          </p:cNvPr>
          <p:cNvSpPr/>
          <p:nvPr/>
        </p:nvSpPr>
        <p:spPr>
          <a:xfrm>
            <a:off x="10132142" y="1253330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144716-FEAC-95DA-7A07-DE1EBBD08679}"/>
              </a:ext>
            </a:extLst>
          </p:cNvPr>
          <p:cNvCxnSpPr>
            <a:stCxn id="4" idx="4"/>
          </p:cNvCxnSpPr>
          <p:nvPr/>
        </p:nvCxnSpPr>
        <p:spPr>
          <a:xfrm flipH="1">
            <a:off x="8593394" y="2254890"/>
            <a:ext cx="22122" cy="305452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206479-8D30-71A5-B8BB-2B28370F2E7C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0931013" y="2254889"/>
            <a:ext cx="0" cy="312335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94D8F2-88FD-9D3E-D673-E2F7834F7A80}"/>
              </a:ext>
            </a:extLst>
          </p:cNvPr>
          <p:cNvCxnSpPr/>
          <p:nvPr/>
        </p:nvCxnSpPr>
        <p:spPr>
          <a:xfrm>
            <a:off x="8615516" y="2989006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C5C97F-3229-CD81-931A-E4855187839D}"/>
              </a:ext>
            </a:extLst>
          </p:cNvPr>
          <p:cNvSpPr txBox="1"/>
          <p:nvPr/>
        </p:nvSpPr>
        <p:spPr>
          <a:xfrm>
            <a:off x="8876076" y="2646360"/>
            <a:ext cx="179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B568A1-C006-B922-4FBA-2B7612D2C8CE}"/>
              </a:ext>
            </a:extLst>
          </p:cNvPr>
          <p:cNvCxnSpPr>
            <a:cxnSpLocks/>
          </p:cNvCxnSpPr>
          <p:nvPr/>
        </p:nvCxnSpPr>
        <p:spPr>
          <a:xfrm flipH="1">
            <a:off x="8615516" y="4678674"/>
            <a:ext cx="23154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94B135-8077-5427-6662-3FE4A7D708D7}"/>
              </a:ext>
            </a:extLst>
          </p:cNvPr>
          <p:cNvSpPr txBox="1"/>
          <p:nvPr/>
        </p:nvSpPr>
        <p:spPr>
          <a:xfrm>
            <a:off x="9222658" y="4323426"/>
            <a:ext cx="105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RST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C82F5-A626-7246-C3F6-AC4F61521E2E}"/>
              </a:ext>
            </a:extLst>
          </p:cNvPr>
          <p:cNvSpPr txBox="1"/>
          <p:nvPr/>
        </p:nvSpPr>
        <p:spPr>
          <a:xfrm>
            <a:off x="10994917" y="3363611"/>
            <a:ext cx="132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Error in </a:t>
            </a:r>
            <a:r>
              <a:rPr lang="en-IN" dirty="0" err="1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Procssing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7357E22B-1E56-3A9C-1728-BA0C19B71E10}"/>
              </a:ext>
            </a:extLst>
          </p:cNvPr>
          <p:cNvSpPr/>
          <p:nvPr/>
        </p:nvSpPr>
        <p:spPr>
          <a:xfrm>
            <a:off x="10670452" y="3429000"/>
            <a:ext cx="548152" cy="515554"/>
          </a:xfrm>
          <a:prstGeom prst="mathMultiply">
            <a:avLst>
              <a:gd name="adj1" fmla="val 13984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4B5E8DED-3085-781F-CFB9-8A14CD0D9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591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4532-8531-441E-47A0-B2AD05D2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B7D4-A8EA-E8DA-A8CC-CE91372E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3-Modes of communication in Request-Response Layer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Piggy-Backed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Separate Response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Non-Confirmable Request and Response</a:t>
            </a:r>
          </a:p>
        </p:txBody>
      </p:sp>
      <p:pic>
        <p:nvPicPr>
          <p:cNvPr id="4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2C404D5F-1E2E-A7C7-6988-8B75D654B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648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1C40-0A49-F3BA-A1AF-2216CB88B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5F96A3-DEC1-D796-D353-716EE90A4371}"/>
              </a:ext>
            </a:extLst>
          </p:cNvPr>
          <p:cNvSpPr/>
          <p:nvPr/>
        </p:nvSpPr>
        <p:spPr>
          <a:xfrm>
            <a:off x="8052619" y="997690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B7B960-83FF-D1E5-471E-865427A686AE}"/>
              </a:ext>
            </a:extLst>
          </p:cNvPr>
          <p:cNvSpPr/>
          <p:nvPr/>
        </p:nvSpPr>
        <p:spPr>
          <a:xfrm>
            <a:off x="10368116" y="997689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828AC-7CE7-2BB1-D772-C10005901995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8851490" y="1999249"/>
            <a:ext cx="0" cy="1561677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46221D-A983-C453-C241-66CD44806260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11166987" y="1999248"/>
            <a:ext cx="0" cy="149120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8E361C-D899-2893-86FB-A2DEB6C608AA}"/>
              </a:ext>
            </a:extLst>
          </p:cNvPr>
          <p:cNvCxnSpPr/>
          <p:nvPr/>
        </p:nvCxnSpPr>
        <p:spPr>
          <a:xfrm>
            <a:off x="8851490" y="2566214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7E6C928-39C8-99AE-7088-1D710E201502}"/>
              </a:ext>
            </a:extLst>
          </p:cNvPr>
          <p:cNvSpPr txBox="1"/>
          <p:nvPr/>
        </p:nvSpPr>
        <p:spPr>
          <a:xfrm>
            <a:off x="9152608" y="1845427"/>
            <a:ext cx="17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GET(Temp)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(Token)</a:t>
            </a:r>
            <a:endParaRPr lang="en-IN" sz="1400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BBD8DA-01B3-C2E3-C0AB-66EB719023EB}"/>
              </a:ext>
            </a:extLst>
          </p:cNvPr>
          <p:cNvCxnSpPr>
            <a:cxnSpLocks/>
          </p:cNvCxnSpPr>
          <p:nvPr/>
        </p:nvCxnSpPr>
        <p:spPr>
          <a:xfrm flipH="1">
            <a:off x="8851490" y="3311987"/>
            <a:ext cx="23154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F4FF83-46E9-8F29-FEDA-180F7E9A6D8A}"/>
              </a:ext>
            </a:extLst>
          </p:cNvPr>
          <p:cNvSpPr txBox="1"/>
          <p:nvPr/>
        </p:nvSpPr>
        <p:spPr>
          <a:xfrm>
            <a:off x="9152608" y="2596072"/>
            <a:ext cx="17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ACK (ADDR)</a:t>
            </a:r>
          </a:p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(Token)</a:t>
            </a:r>
          </a:p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36 ºC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533489-C06E-E81A-1647-371051E47156}"/>
              </a:ext>
            </a:extLst>
          </p:cNvPr>
          <p:cNvSpPr/>
          <p:nvPr/>
        </p:nvSpPr>
        <p:spPr>
          <a:xfrm>
            <a:off x="8052619" y="3852942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5BB836-5DAD-DE6D-5A5A-DCDD58A24359}"/>
              </a:ext>
            </a:extLst>
          </p:cNvPr>
          <p:cNvSpPr/>
          <p:nvPr/>
        </p:nvSpPr>
        <p:spPr>
          <a:xfrm>
            <a:off x="10368116" y="3852941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13BF39-B729-EFD4-2BA1-0719D19CD4B8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8851490" y="4854501"/>
            <a:ext cx="0" cy="1561677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F7BD69-BC36-DFAD-AA6C-426B50AA86B5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11166987" y="4854500"/>
            <a:ext cx="0" cy="149120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283C89-C7E9-9B03-F76E-D2141513EBDC}"/>
              </a:ext>
            </a:extLst>
          </p:cNvPr>
          <p:cNvCxnSpPr/>
          <p:nvPr/>
        </p:nvCxnSpPr>
        <p:spPr>
          <a:xfrm>
            <a:off x="8851490" y="5411634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76A3F76-C181-C26C-3F1A-CC98313E0CDE}"/>
              </a:ext>
            </a:extLst>
          </p:cNvPr>
          <p:cNvSpPr txBox="1"/>
          <p:nvPr/>
        </p:nvSpPr>
        <p:spPr>
          <a:xfrm>
            <a:off x="9152608" y="4700679"/>
            <a:ext cx="17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GET(Temp)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(Token)</a:t>
            </a:r>
            <a:endParaRPr lang="en-IN" sz="1400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DF1FCE-EEFD-6565-13C2-FFD66DC8AC21}"/>
              </a:ext>
            </a:extLst>
          </p:cNvPr>
          <p:cNvCxnSpPr>
            <a:cxnSpLocks/>
          </p:cNvCxnSpPr>
          <p:nvPr/>
        </p:nvCxnSpPr>
        <p:spPr>
          <a:xfrm flipH="1">
            <a:off x="8851490" y="6167239"/>
            <a:ext cx="23154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3E01FAA-0F7D-D9D1-5BEA-7C042340E7D1}"/>
              </a:ext>
            </a:extLst>
          </p:cNvPr>
          <p:cNvSpPr txBox="1"/>
          <p:nvPr/>
        </p:nvSpPr>
        <p:spPr>
          <a:xfrm>
            <a:off x="9152608" y="5451324"/>
            <a:ext cx="17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ACK (ADDR)</a:t>
            </a:r>
          </a:p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(Token)</a:t>
            </a:r>
          </a:p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NOT FOUND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5C6CB28C-796B-ED77-E999-60D2697418B0}"/>
              </a:ext>
            </a:extLst>
          </p:cNvPr>
          <p:cNvSpPr txBox="1">
            <a:spLocks/>
          </p:cNvSpPr>
          <p:nvPr/>
        </p:nvSpPr>
        <p:spPr>
          <a:xfrm>
            <a:off x="130277" y="1253331"/>
            <a:ext cx="7430730" cy="526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4013" indent="-3540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1pPr>
            <a:lvl2pPr marL="719138" indent="-261938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FF0000"/>
                </a:solidFill>
              </a:rPr>
              <a:t>Piggy-Baked:</a:t>
            </a:r>
          </a:p>
          <a:p>
            <a:pPr lvl="1"/>
            <a:r>
              <a:rPr lang="en-IN" dirty="0"/>
              <a:t>Client sends the data in a particular way (GET/PUT etc.) with token (ID) number and CON method.</a:t>
            </a:r>
          </a:p>
          <a:p>
            <a:pPr lvl="1"/>
            <a:r>
              <a:rPr lang="en-IN" dirty="0"/>
              <a:t>ACK is transmitted by server immediately with corresponding token (ID) and message</a:t>
            </a:r>
          </a:p>
          <a:p>
            <a:pPr lvl="1"/>
            <a:r>
              <a:rPr lang="en-IN" dirty="0"/>
              <a:t>If message is not received by the server or data is not available then server will send failure as acknowledgement</a:t>
            </a:r>
          </a:p>
        </p:txBody>
      </p:sp>
      <p:pic>
        <p:nvPicPr>
          <p:cNvPr id="41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05C605B6-A668-6DD0-BB7F-796F05D1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424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35FB-9521-6E1D-3389-E7134DEC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B011-3B62-E47E-A7E6-105C57CF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83C3A5-1BA8-9F95-D88A-B7C7AFAAD090}"/>
              </a:ext>
            </a:extLst>
          </p:cNvPr>
          <p:cNvSpPr/>
          <p:nvPr/>
        </p:nvSpPr>
        <p:spPr>
          <a:xfrm>
            <a:off x="8052619" y="417586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FF8275-35EB-3A6E-8262-D41B314479A7}"/>
              </a:ext>
            </a:extLst>
          </p:cNvPr>
          <p:cNvSpPr/>
          <p:nvPr/>
        </p:nvSpPr>
        <p:spPr>
          <a:xfrm>
            <a:off x="10368116" y="417585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F6715D-BD7E-1F2C-4974-2224CE01D580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8851490" y="1419145"/>
            <a:ext cx="0" cy="442121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D0A1C3-900F-C4E0-132B-5801CFBCC37F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11166987" y="1419144"/>
            <a:ext cx="0" cy="4411385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879155-5344-552C-9996-07868CE914AF}"/>
              </a:ext>
            </a:extLst>
          </p:cNvPr>
          <p:cNvCxnSpPr/>
          <p:nvPr/>
        </p:nvCxnSpPr>
        <p:spPr>
          <a:xfrm>
            <a:off x="8851490" y="1986110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C743FCA-563F-343A-F541-A10C7F2119CC}"/>
              </a:ext>
            </a:extLst>
          </p:cNvPr>
          <p:cNvSpPr txBox="1"/>
          <p:nvPr/>
        </p:nvSpPr>
        <p:spPr>
          <a:xfrm>
            <a:off x="9152608" y="1265323"/>
            <a:ext cx="17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GET(Temp)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(Token)</a:t>
            </a:r>
            <a:endParaRPr lang="en-IN" sz="1400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A83B61-79EC-5361-D7E6-1B457550C6EB}"/>
              </a:ext>
            </a:extLst>
          </p:cNvPr>
          <p:cNvCxnSpPr>
            <a:cxnSpLocks/>
          </p:cNvCxnSpPr>
          <p:nvPr/>
        </p:nvCxnSpPr>
        <p:spPr>
          <a:xfrm flipH="1">
            <a:off x="8851490" y="2554908"/>
            <a:ext cx="23154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608492-A84D-3647-187D-E59C6F134CCB}"/>
              </a:ext>
            </a:extLst>
          </p:cNvPr>
          <p:cNvSpPr txBox="1"/>
          <p:nvPr/>
        </p:nvSpPr>
        <p:spPr>
          <a:xfrm>
            <a:off x="9152608" y="4238064"/>
            <a:ext cx="17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 (ADDR)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(Token)</a:t>
            </a:r>
          </a:p>
          <a:p>
            <a:pPr algn="ctr"/>
            <a:r>
              <a:rPr lang="en-IN" sz="1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36 ºC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8708D73-0449-E6C6-D516-AAB7B06AF152}"/>
              </a:ext>
            </a:extLst>
          </p:cNvPr>
          <p:cNvSpPr txBox="1">
            <a:spLocks/>
          </p:cNvSpPr>
          <p:nvPr/>
        </p:nvSpPr>
        <p:spPr>
          <a:xfrm>
            <a:off x="130277" y="1253331"/>
            <a:ext cx="7430730" cy="526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4013" indent="-3540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1pPr>
            <a:lvl2pPr marL="719138" indent="-261938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FF0000"/>
                </a:solidFill>
              </a:rPr>
              <a:t>Separate Response:</a:t>
            </a:r>
          </a:p>
          <a:p>
            <a:pPr lvl="1"/>
            <a:r>
              <a:rPr lang="en-IN" dirty="0"/>
              <a:t>Client sends the data in a particular way (GET/PUT etc.) with token (ID) number and CON method. (Same as Piggy-Baked method)</a:t>
            </a:r>
          </a:p>
          <a:p>
            <a:pPr lvl="1"/>
            <a:r>
              <a:rPr lang="en-IN" dirty="0"/>
              <a:t>If server is busy at the moment, and empty</a:t>
            </a:r>
          </a:p>
          <a:p>
            <a:pPr lvl="1"/>
            <a:r>
              <a:rPr lang="en-IN" dirty="0"/>
              <a:t>After some time when the server has data ready, it sends a CON message with the data to client.</a:t>
            </a:r>
          </a:p>
          <a:p>
            <a:pPr lvl="1"/>
            <a:r>
              <a:rPr lang="en-IN" dirty="0"/>
              <a:t>In response to that, client sends the ACK message to Server.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5D528-96E5-9FE8-49E3-3FE21D06A2B9}"/>
              </a:ext>
            </a:extLst>
          </p:cNvPr>
          <p:cNvSpPr txBox="1"/>
          <p:nvPr/>
        </p:nvSpPr>
        <p:spPr>
          <a:xfrm>
            <a:off x="9731476" y="2242305"/>
            <a:ext cx="63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ACK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857E9A-333F-802F-7299-CFEC93144BEB}"/>
              </a:ext>
            </a:extLst>
          </p:cNvPr>
          <p:cNvCxnSpPr>
            <a:cxnSpLocks/>
          </p:cNvCxnSpPr>
          <p:nvPr/>
        </p:nvCxnSpPr>
        <p:spPr>
          <a:xfrm flipH="1">
            <a:off x="8851490" y="5002908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566D21-1CF0-4E21-1855-DAA7227C1D65}"/>
              </a:ext>
            </a:extLst>
          </p:cNvPr>
          <p:cNvCxnSpPr>
            <a:cxnSpLocks/>
          </p:cNvCxnSpPr>
          <p:nvPr/>
        </p:nvCxnSpPr>
        <p:spPr>
          <a:xfrm>
            <a:off x="8825680" y="5449120"/>
            <a:ext cx="234130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D51A45-5828-4A9C-90BB-EEFA45BEF2BB}"/>
              </a:ext>
            </a:extLst>
          </p:cNvPr>
          <p:cNvSpPr txBox="1"/>
          <p:nvPr/>
        </p:nvSpPr>
        <p:spPr>
          <a:xfrm>
            <a:off x="9722872" y="5128073"/>
            <a:ext cx="636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C0BD29-8AFF-6165-8A52-F6EBD2D26A6D}"/>
              </a:ext>
            </a:extLst>
          </p:cNvPr>
          <p:cNvSpPr txBox="1"/>
          <p:nvPr/>
        </p:nvSpPr>
        <p:spPr>
          <a:xfrm>
            <a:off x="9112050" y="2737662"/>
            <a:ext cx="17943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.</a:t>
            </a:r>
          </a:p>
          <a:p>
            <a:pPr algn="ctr"/>
            <a:r>
              <a:rPr lang="en-IN" sz="20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.</a:t>
            </a:r>
          </a:p>
          <a:p>
            <a:pPr algn="ctr"/>
            <a:r>
              <a:rPr lang="en-IN" sz="20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.</a:t>
            </a:r>
          </a:p>
          <a:p>
            <a:pPr algn="ctr"/>
            <a:r>
              <a:rPr lang="en-IN" sz="20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.</a:t>
            </a:r>
          </a:p>
        </p:txBody>
      </p:sp>
      <p:pic>
        <p:nvPicPr>
          <p:cNvPr id="22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2C124F21-8DDB-0F04-0716-CE8AB389D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338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C175B-4B6C-B6EE-B9A6-499D74F0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29F4-999E-FB9B-0247-0DC32191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A2CCA6-35F9-85F4-758F-3A9F191F755B}"/>
              </a:ext>
            </a:extLst>
          </p:cNvPr>
          <p:cNvSpPr/>
          <p:nvPr/>
        </p:nvSpPr>
        <p:spPr>
          <a:xfrm>
            <a:off x="8052619" y="417586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Client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73E37C-8653-5EB1-B5B5-A066B8229033}"/>
              </a:ext>
            </a:extLst>
          </p:cNvPr>
          <p:cNvSpPr/>
          <p:nvPr/>
        </p:nvSpPr>
        <p:spPr>
          <a:xfrm>
            <a:off x="10368116" y="417585"/>
            <a:ext cx="1597742" cy="100155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Server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587FFB-6C11-EC93-5FE5-91AB271A5BBC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8851490" y="1419145"/>
            <a:ext cx="0" cy="399842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D3296F-7AC0-1A22-69CC-334B309E8E2C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11166987" y="1419144"/>
            <a:ext cx="0" cy="399843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0061AD-9808-2DD7-DFCD-D8642171326C}"/>
              </a:ext>
            </a:extLst>
          </p:cNvPr>
          <p:cNvCxnSpPr/>
          <p:nvPr/>
        </p:nvCxnSpPr>
        <p:spPr>
          <a:xfrm>
            <a:off x="8851490" y="2408897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A6D00A-3233-D0BD-A13E-ED6EA5DB892B}"/>
              </a:ext>
            </a:extLst>
          </p:cNvPr>
          <p:cNvSpPr txBox="1"/>
          <p:nvPr/>
        </p:nvSpPr>
        <p:spPr>
          <a:xfrm>
            <a:off x="9152608" y="1540627"/>
            <a:ext cx="179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NON (ID)</a:t>
            </a:r>
          </a:p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GET(Temp)</a:t>
            </a:r>
          </a:p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(Token)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76FF6-1CE6-3D76-0416-4B180ADAD4F1}"/>
              </a:ext>
            </a:extLst>
          </p:cNvPr>
          <p:cNvSpPr txBox="1"/>
          <p:nvPr/>
        </p:nvSpPr>
        <p:spPr>
          <a:xfrm>
            <a:off x="9152608" y="3038526"/>
            <a:ext cx="179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NON (ID)</a:t>
            </a:r>
          </a:p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(Token)</a:t>
            </a:r>
          </a:p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36 ºC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3D394C7-14A8-2855-347E-F227017FB066}"/>
              </a:ext>
            </a:extLst>
          </p:cNvPr>
          <p:cNvSpPr txBox="1">
            <a:spLocks/>
          </p:cNvSpPr>
          <p:nvPr/>
        </p:nvSpPr>
        <p:spPr>
          <a:xfrm>
            <a:off x="130277" y="1253331"/>
            <a:ext cx="7430730" cy="526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4013" indent="-3540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1pPr>
            <a:lvl2pPr marL="719138" indent="-261938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112A46"/>
                </a:solidFill>
                <a:latin typeface="Alice" pitchFamily="2" charset="0"/>
                <a:ea typeface="Alice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FF0000"/>
                </a:solidFill>
              </a:rPr>
              <a:t>Non-Confirmable Request-Response:</a:t>
            </a:r>
          </a:p>
          <a:p>
            <a:pPr lvl="1"/>
            <a:r>
              <a:rPr lang="en-IN" dirty="0"/>
              <a:t>Here client sends a message with particular method (GET, PUT etc.) with a token (ID) as a NON message.</a:t>
            </a:r>
          </a:p>
          <a:p>
            <a:pPr lvl="1"/>
            <a:r>
              <a:rPr lang="en-IN" dirty="0"/>
              <a:t>In response, server sends a NON message with a token (ID) and its data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748A97-1A64-1471-C7E5-2D034DE783FC}"/>
              </a:ext>
            </a:extLst>
          </p:cNvPr>
          <p:cNvCxnSpPr>
            <a:cxnSpLocks/>
          </p:cNvCxnSpPr>
          <p:nvPr/>
        </p:nvCxnSpPr>
        <p:spPr>
          <a:xfrm flipH="1">
            <a:off x="8851490" y="3950856"/>
            <a:ext cx="2315497" cy="0"/>
          </a:xfrm>
          <a:prstGeom prst="straightConnector1">
            <a:avLst/>
          </a:prstGeom>
          <a:ln w="38100">
            <a:solidFill>
              <a:srgbClr val="52B7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A1386FC7-25E9-4C54-1B46-88D106979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817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8AE5-AD06-235F-A5C9-D8AB28BF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E8C5A-6D03-2CB3-2F62-A6B6C4CC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CoAP message format is of 16-Bytes consisting various fields.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V:</a:t>
            </a:r>
            <a:r>
              <a:rPr lang="en-IN" dirty="0"/>
              <a:t> CoAP Version, 2-bits unsigned int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T:</a:t>
            </a:r>
            <a:r>
              <a:rPr lang="en-IN" dirty="0"/>
              <a:t> Message Type, 2-bits unsigned int</a:t>
            </a:r>
          </a:p>
          <a:p>
            <a:pPr lvl="2"/>
            <a:r>
              <a:rPr lang="en-IN" dirty="0"/>
              <a:t>0: CON</a:t>
            </a:r>
          </a:p>
          <a:p>
            <a:pPr lvl="2"/>
            <a:r>
              <a:rPr lang="en-IN" dirty="0"/>
              <a:t>1: NON</a:t>
            </a:r>
          </a:p>
          <a:p>
            <a:pPr lvl="2"/>
            <a:r>
              <a:rPr lang="en-IN" dirty="0"/>
              <a:t>2: ACK</a:t>
            </a:r>
          </a:p>
          <a:p>
            <a:pPr lvl="2"/>
            <a:r>
              <a:rPr lang="en-IN" dirty="0"/>
              <a:t>3: RST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TKL:</a:t>
            </a:r>
            <a:r>
              <a:rPr lang="en-IN" dirty="0"/>
              <a:t> Token length, 4-bits unsigned int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6FC484-CC9C-F3D3-D106-378EF6DE1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70544"/>
              </p:ext>
            </p:extLst>
          </p:nvPr>
        </p:nvGraphicFramePr>
        <p:xfrm>
          <a:off x="127820" y="4677569"/>
          <a:ext cx="11933888" cy="1955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72934">
                  <a:extLst>
                    <a:ext uri="{9D8B030D-6E8A-4147-A177-3AD203B41FA5}">
                      <a16:colId xmlns:a16="http://schemas.microsoft.com/office/drawing/2014/main" val="24765525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78863293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02253559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9784423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94150888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64499156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30705077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23925174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55923993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726690560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423169147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84605091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706464238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18887342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629916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654697366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934037970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79596717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99976393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39781815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191756636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4001726436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9020398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56084225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54471274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88487054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39604366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87154959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89530230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1595989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58857363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949582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22548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V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TKL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Code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Message ID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2411"/>
                  </a:ext>
                </a:extLst>
              </a:tr>
              <a:tr h="370840">
                <a:tc gridSpan="3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Token (If any, with TKL Bytes Length)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140344"/>
                  </a:ext>
                </a:extLst>
              </a:tr>
              <a:tr h="370840">
                <a:tc gridSpan="3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Options (If any)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3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 gridSpan="24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Payload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286838"/>
                  </a:ext>
                </a:extLst>
              </a:tr>
            </a:tbl>
          </a:graphicData>
        </a:graphic>
      </p:graphicFrame>
      <p:pic>
        <p:nvPicPr>
          <p:cNvPr id="5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B3DEBBA7-0F27-1A57-35A4-ECDCA7069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914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4E61-6A77-90AE-AA7A-2D199FD78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678-1929-26BA-BDCB-40359277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CoAP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B551B-9089-A861-1EEC-013DE45C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b="1" dirty="0">
                <a:solidFill>
                  <a:srgbClr val="FF0000"/>
                </a:solidFill>
              </a:rPr>
              <a:t>Code:</a:t>
            </a:r>
            <a:r>
              <a:rPr lang="en-IN" dirty="0"/>
              <a:t> Response Code of message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Message ID: </a:t>
            </a:r>
            <a:r>
              <a:rPr lang="en-IN" dirty="0"/>
              <a:t>Message Identifier, to avoid duplication.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Token:</a:t>
            </a:r>
            <a:r>
              <a:rPr lang="en-IN" dirty="0"/>
              <a:t> Optional field, size of the field is defined in TKL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Options: </a:t>
            </a:r>
            <a:r>
              <a:rPr lang="en-IN" dirty="0"/>
              <a:t>4-bytes Options field is available to indicate any options available.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Payload:</a:t>
            </a:r>
            <a:r>
              <a:rPr lang="en-IN" dirty="0"/>
              <a:t> refers to the Payload Data (Actual Data) to be transmitted.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BA4FFB-89B1-E06B-A36C-3723380D8102}"/>
              </a:ext>
            </a:extLst>
          </p:cNvPr>
          <p:cNvGraphicFramePr>
            <a:graphicFrameLocks noGrp="1"/>
          </p:cNvGraphicFramePr>
          <p:nvPr/>
        </p:nvGraphicFramePr>
        <p:xfrm>
          <a:off x="127820" y="4677569"/>
          <a:ext cx="11933888" cy="1955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72934">
                  <a:extLst>
                    <a:ext uri="{9D8B030D-6E8A-4147-A177-3AD203B41FA5}">
                      <a16:colId xmlns:a16="http://schemas.microsoft.com/office/drawing/2014/main" val="24765525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78863293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02253559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9784423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94150888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64499156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30705077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23925174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55923993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726690560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423169147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84605091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706464238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188873421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629916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654697366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934037970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79596717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99976393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39781815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191756636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4001726436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9020398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56084225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54471274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884870547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39604366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87154959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189530230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3215959899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588573635"/>
                    </a:ext>
                  </a:extLst>
                </a:gridCol>
                <a:gridCol w="372934">
                  <a:extLst>
                    <a:ext uri="{9D8B030D-6E8A-4147-A177-3AD203B41FA5}">
                      <a16:colId xmlns:a16="http://schemas.microsoft.com/office/drawing/2014/main" val="2949582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22548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V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TKL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Code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Message ID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2411"/>
                  </a:ext>
                </a:extLst>
              </a:tr>
              <a:tr h="370840">
                <a:tc gridSpan="3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Token (If any, with TKL Bytes Length)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140344"/>
                  </a:ext>
                </a:extLst>
              </a:tr>
              <a:tr h="370840">
                <a:tc gridSpan="32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Options (If any)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38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1</a:t>
                      </a:r>
                    </a:p>
                  </a:txBody>
                  <a:tcPr anchor="ctr"/>
                </a:tc>
                <a:tc gridSpan="24"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12A46"/>
                          </a:solidFill>
                          <a:latin typeface="Alice" pitchFamily="2" charset="0"/>
                          <a:ea typeface="Alice" pitchFamily="2" charset="0"/>
                        </a:rPr>
                        <a:t>Payload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286838"/>
                  </a:ext>
                </a:extLst>
              </a:tr>
            </a:tbl>
          </a:graphicData>
        </a:graphic>
      </p:graphicFrame>
      <p:pic>
        <p:nvPicPr>
          <p:cNvPr id="5" name="Picture 4" descr="CoAP Push - Network Management System v8.x (Hummingbird) - Documentation Hub">
            <a:extLst>
              <a:ext uri="{FF2B5EF4-FFF2-40B4-BE49-F238E27FC236}">
                <a16:creationId xmlns:a16="http://schemas.microsoft.com/office/drawing/2014/main" id="{A018F6A0-A128-ACF8-476C-3252F8452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31" y="361105"/>
            <a:ext cx="884904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881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CC84-938D-870F-6E3B-560653E2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MQTT v/s CoAP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4FB776E-8DBD-50DD-FDCE-C2B6F18FBA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3" y="1350135"/>
            <a:ext cx="12159802" cy="507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383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E729-C0F7-CC87-484D-F14B85180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XMPP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DC92-03D3-3225-9917-A6CCAE32F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eXtensible</a:t>
            </a:r>
            <a:r>
              <a:rPr lang="en-IN" dirty="0"/>
              <a:t> Messaging and Presence Protocol</a:t>
            </a:r>
          </a:p>
          <a:p>
            <a:r>
              <a:rPr lang="en-IN" dirty="0"/>
              <a:t>Designed for Messaging, Chat, Video &amp; Voice calls and Collaboration.</a:t>
            </a:r>
          </a:p>
          <a:p>
            <a:r>
              <a:rPr lang="en-IN" dirty="0"/>
              <a:t>Used for messaging services.</a:t>
            </a:r>
          </a:p>
          <a:p>
            <a:r>
              <a:rPr lang="en-IN" dirty="0"/>
              <a:t>Previously known as Jabber.</a:t>
            </a:r>
          </a:p>
          <a:p>
            <a:r>
              <a:rPr lang="en-IN" b="1" dirty="0">
                <a:solidFill>
                  <a:srgbClr val="FF0000"/>
                </a:solidFill>
              </a:rPr>
              <a:t>X – </a:t>
            </a:r>
            <a:r>
              <a:rPr lang="en-IN" b="1" dirty="0" err="1">
                <a:solidFill>
                  <a:srgbClr val="FF0000"/>
                </a:solidFill>
              </a:rPr>
              <a:t>eXtensible</a:t>
            </a:r>
            <a:r>
              <a:rPr lang="en-IN" b="1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IN" dirty="0"/>
              <a:t>Designed to accept and accommodate any changes.</a:t>
            </a:r>
          </a:p>
          <a:p>
            <a:pPr lvl="1"/>
            <a:r>
              <a:rPr lang="en-IN" dirty="0"/>
              <a:t>It is Extensible because of the open standard approach.</a:t>
            </a:r>
          </a:p>
          <a:p>
            <a:r>
              <a:rPr lang="en-IN" b="1" dirty="0">
                <a:solidFill>
                  <a:srgbClr val="FF0000"/>
                </a:solidFill>
              </a:rPr>
              <a:t>M – Messaging:</a:t>
            </a:r>
          </a:p>
          <a:p>
            <a:pPr lvl="1"/>
            <a:r>
              <a:rPr lang="en-IN" dirty="0"/>
              <a:t>Supports sending messages to the recipients in real-time.</a:t>
            </a:r>
          </a:p>
          <a:p>
            <a:r>
              <a:rPr lang="en-IN" b="1" dirty="0">
                <a:solidFill>
                  <a:srgbClr val="FF0000"/>
                </a:solidFill>
              </a:rPr>
              <a:t>P – Presence:</a:t>
            </a:r>
          </a:p>
          <a:p>
            <a:pPr lvl="1"/>
            <a:r>
              <a:rPr lang="en-IN" dirty="0"/>
              <a:t>Used to identify status of recipients as “Online”, “Offline”, “Busy”.</a:t>
            </a:r>
          </a:p>
          <a:p>
            <a:pPr lvl="1"/>
            <a:r>
              <a:rPr lang="en-IN" dirty="0"/>
              <a:t>This helps understand, whether the recipient is ready to receive or not.</a:t>
            </a:r>
          </a:p>
          <a:p>
            <a:r>
              <a:rPr lang="en-IN" b="1" dirty="0">
                <a:solidFill>
                  <a:srgbClr val="FF0000"/>
                </a:solidFill>
              </a:rPr>
              <a:t>P – Protocol:</a:t>
            </a:r>
          </a:p>
          <a:p>
            <a:pPr lvl="1"/>
            <a:r>
              <a:rPr lang="en-IN" dirty="0"/>
              <a:t>Defines set of standards for messaging and presence, hence protocol.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6823A67-839E-DDB9-D320-18075B4CF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0558" y="287758"/>
            <a:ext cx="605300" cy="6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2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8FE4-7348-EE9C-7FCE-10871D33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B073D-5A32-DB1E-C7E2-D57C71CB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XMPP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644A1-B21C-8BB6-32E3-7ED5CD1C3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requires following inbuilt features:</a:t>
            </a:r>
          </a:p>
          <a:p>
            <a:pPr lvl="1"/>
            <a:r>
              <a:rPr lang="en-IN" dirty="0"/>
              <a:t>Message Sending or Receiving.</a:t>
            </a:r>
          </a:p>
          <a:p>
            <a:pPr lvl="1"/>
            <a:r>
              <a:rPr lang="en-IN" dirty="0"/>
              <a:t>Understanding of the Presence / Absence of  Recipient.</a:t>
            </a:r>
          </a:p>
          <a:p>
            <a:pPr lvl="1"/>
            <a:r>
              <a:rPr lang="en-IN" dirty="0"/>
              <a:t>Managing Subscription details.</a:t>
            </a:r>
          </a:p>
          <a:p>
            <a:pPr lvl="1"/>
            <a:r>
              <a:rPr lang="en-IN" dirty="0"/>
              <a:t>Managing Contacts List.</a:t>
            </a:r>
          </a:p>
          <a:p>
            <a:pPr lvl="1"/>
            <a:r>
              <a:rPr lang="en-IN" dirty="0"/>
              <a:t>Message Blocking service.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F933FC-C242-D4C7-9591-B1F216503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0558" y="287758"/>
            <a:ext cx="605300" cy="6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61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2FE8-F0A3-8422-FBF1-26118CC8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FAD0-C913-F239-4B64-3C7C5FC7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XMPP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3065E-6FB5-EA7B-4B26-03FEDD10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Architecture is as depicted in the figure.</a:t>
            </a:r>
          </a:p>
          <a:p>
            <a:r>
              <a:rPr lang="en-IN" dirty="0"/>
              <a:t>XMPP client can communicate bidirectionally with XMPP server.</a:t>
            </a:r>
          </a:p>
          <a:p>
            <a:r>
              <a:rPr lang="en-IN" dirty="0"/>
              <a:t>More than one clients can be connected to a single XMPP server.</a:t>
            </a:r>
          </a:p>
          <a:p>
            <a:r>
              <a:rPr lang="en-IN" dirty="0"/>
              <a:t>XMPP Server may be connected to another XMPP Client or Servers.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7E159E-BDB0-08B2-5893-F38D484DF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0558" y="287758"/>
            <a:ext cx="605300" cy="605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0C05FB-7387-89DD-A257-9685EA7A7416}"/>
              </a:ext>
            </a:extLst>
          </p:cNvPr>
          <p:cNvSpPr/>
          <p:nvPr/>
        </p:nvSpPr>
        <p:spPr>
          <a:xfrm>
            <a:off x="2595718" y="4473678"/>
            <a:ext cx="1543664" cy="942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XMPP Server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0B2F22-C05B-7306-2AA0-0D3F6DBF5825}"/>
              </a:ext>
            </a:extLst>
          </p:cNvPr>
          <p:cNvSpPr/>
          <p:nvPr/>
        </p:nvSpPr>
        <p:spPr>
          <a:xfrm>
            <a:off x="280218" y="3342968"/>
            <a:ext cx="1450260" cy="853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XMPP Client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5EB026-9016-5E74-E940-72A9294A2A1B}"/>
              </a:ext>
            </a:extLst>
          </p:cNvPr>
          <p:cNvSpPr/>
          <p:nvPr/>
        </p:nvSpPr>
        <p:spPr>
          <a:xfrm>
            <a:off x="280218" y="4518209"/>
            <a:ext cx="1450260" cy="853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XMPP Client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AFA036-6116-49B8-8E0E-CC863D69EC96}"/>
              </a:ext>
            </a:extLst>
          </p:cNvPr>
          <p:cNvSpPr/>
          <p:nvPr/>
        </p:nvSpPr>
        <p:spPr>
          <a:xfrm>
            <a:off x="280218" y="5780528"/>
            <a:ext cx="1450260" cy="853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XMPP Client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5517A7-7EAB-C33C-49B8-B49435AEE037}"/>
              </a:ext>
            </a:extLst>
          </p:cNvPr>
          <p:cNvSpPr/>
          <p:nvPr/>
        </p:nvSpPr>
        <p:spPr>
          <a:xfrm>
            <a:off x="7133304" y="4473678"/>
            <a:ext cx="1543664" cy="942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XMPP Server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8250B5-1BAA-7AFA-D975-5548D4D1C15D}"/>
              </a:ext>
            </a:extLst>
          </p:cNvPr>
          <p:cNvSpPr/>
          <p:nvPr/>
        </p:nvSpPr>
        <p:spPr>
          <a:xfrm>
            <a:off x="10515598" y="3342968"/>
            <a:ext cx="1450260" cy="853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XMPP Client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5C8043-47C8-3512-3F6D-2EF62B1E65E1}"/>
              </a:ext>
            </a:extLst>
          </p:cNvPr>
          <p:cNvSpPr/>
          <p:nvPr/>
        </p:nvSpPr>
        <p:spPr>
          <a:xfrm>
            <a:off x="10515598" y="4518209"/>
            <a:ext cx="1450260" cy="853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XMPP Client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DBC869-87E2-5424-6B97-5ECB32FEAC2A}"/>
              </a:ext>
            </a:extLst>
          </p:cNvPr>
          <p:cNvSpPr/>
          <p:nvPr/>
        </p:nvSpPr>
        <p:spPr>
          <a:xfrm>
            <a:off x="10515598" y="5780528"/>
            <a:ext cx="1450260" cy="853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XMPP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591EAD-23C8-DAED-FA2C-2220C02F532C}"/>
              </a:ext>
            </a:extLst>
          </p:cNvPr>
          <p:cNvSpPr/>
          <p:nvPr/>
        </p:nvSpPr>
        <p:spPr>
          <a:xfrm>
            <a:off x="4940711" y="3414775"/>
            <a:ext cx="1543664" cy="942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XMPP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4F1085-702B-4704-7327-7FFE58F746CC}"/>
              </a:ext>
            </a:extLst>
          </p:cNvPr>
          <p:cNvCxnSpPr>
            <a:stCxn id="7" idx="6"/>
            <a:endCxn id="4" idx="1"/>
          </p:cNvCxnSpPr>
          <p:nvPr/>
        </p:nvCxnSpPr>
        <p:spPr>
          <a:xfrm>
            <a:off x="1730478" y="4944962"/>
            <a:ext cx="86524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02E3FF-82E9-3BBC-2F9D-CD860FA512A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4139382" y="4944962"/>
            <a:ext cx="299392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C236C2-22F3-40B1-8A21-92E46895C068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>
            <a:off x="8676968" y="4944962"/>
            <a:ext cx="183863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EBE3D-5923-855D-85B6-C205FC3D58A5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8676968" y="3769721"/>
            <a:ext cx="1838630" cy="117524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DA20E8-C1DD-FC10-4198-3E7D92114050}"/>
              </a:ext>
            </a:extLst>
          </p:cNvPr>
          <p:cNvCxnSpPr>
            <a:cxnSpLocks/>
            <a:stCxn id="9" idx="3"/>
            <a:endCxn id="12" idx="2"/>
          </p:cNvCxnSpPr>
          <p:nvPr/>
        </p:nvCxnSpPr>
        <p:spPr>
          <a:xfrm>
            <a:off x="8676968" y="4944962"/>
            <a:ext cx="1838630" cy="126231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A9BF92-C379-392F-3514-B4675400C536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>
            <a:off x="1730478" y="3769721"/>
            <a:ext cx="865240" cy="117524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590BD7-A48C-6ECD-4F74-34D6F0F18E4D}"/>
              </a:ext>
            </a:extLst>
          </p:cNvPr>
          <p:cNvCxnSpPr>
            <a:cxnSpLocks/>
            <a:stCxn id="8" idx="6"/>
            <a:endCxn id="4" idx="1"/>
          </p:cNvCxnSpPr>
          <p:nvPr/>
        </p:nvCxnSpPr>
        <p:spPr>
          <a:xfrm flipV="1">
            <a:off x="1730478" y="4944962"/>
            <a:ext cx="865240" cy="126231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1EEBDEB-1F72-88AC-BE44-6877E2286806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4139382" y="3886059"/>
            <a:ext cx="801329" cy="105890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499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48C6-E163-70D2-3CB4-FC2095EE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33BC-F8FB-3D01-AA24-835CAAB9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Protocols: </a:t>
            </a:r>
            <a:r>
              <a:rPr lang="en-IN" dirty="0">
                <a:solidFill>
                  <a:srgbClr val="00B050"/>
                </a:solidFill>
              </a:rPr>
              <a:t>XMPP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DEE3-E937-9B80-E5EE-46BD33D39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Initially XMPP was with TCP using open ended XML.</a:t>
            </a:r>
          </a:p>
          <a:p>
            <a:r>
              <a:rPr lang="en-IN" dirty="0"/>
              <a:t>Later on, XMPP was developed based on HTTP.</a:t>
            </a:r>
          </a:p>
          <a:p>
            <a:r>
              <a:rPr lang="en-IN" dirty="0"/>
              <a:t>XMPP has 2 different methods of communication while working with HTTP.</a:t>
            </a:r>
          </a:p>
          <a:p>
            <a:r>
              <a:rPr lang="en-IN" b="1" dirty="0">
                <a:solidFill>
                  <a:srgbClr val="FF0000"/>
                </a:solidFill>
              </a:rPr>
              <a:t>Polling (Pull Method): </a:t>
            </a:r>
            <a:r>
              <a:rPr lang="en-IN" dirty="0"/>
              <a:t>Message are stored in server and fetched/pulled by client using GET/POST HTTP.</a:t>
            </a:r>
          </a:p>
          <a:p>
            <a:r>
              <a:rPr lang="en-IN" b="1" dirty="0">
                <a:solidFill>
                  <a:srgbClr val="FF0000"/>
                </a:solidFill>
              </a:rPr>
              <a:t>Binding (Push method): </a:t>
            </a:r>
            <a:r>
              <a:rPr lang="en-IN" dirty="0"/>
              <a:t>Bidirectional-streams Over Synchronous HTTP (BOSH) enables the servers to push the messages to the clients when they are required.</a:t>
            </a:r>
          </a:p>
          <a:p>
            <a:r>
              <a:rPr lang="en-IN" dirty="0"/>
              <a:t>Binding method is more effective than Polling.</a:t>
            </a:r>
          </a:p>
          <a:p>
            <a:r>
              <a:rPr lang="en-IN" dirty="0"/>
              <a:t>Also both methods uses HTTP, so fetch and post activities can be done through firewall, which is allowed in a secured manner.</a:t>
            </a:r>
          </a:p>
          <a:p>
            <a:pPr lvl="1"/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1DE357F-5462-D1D4-E5C3-FF7D064A6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0558" y="287758"/>
            <a:ext cx="605300" cy="6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35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981F-DD97-3044-FE0F-981F2273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49B71-95F8-907F-E344-A56E4152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transmit the data generated in a node through out the network, some set of transport protocols are available like TCP, UDP which are already used in various protocols.</a:t>
            </a:r>
          </a:p>
          <a:p>
            <a:r>
              <a:rPr lang="en-IN" dirty="0"/>
              <a:t>But for some part of IoT system, an IoT device might not be capable of handling requirement of processing, transmission or reception of the messages.</a:t>
            </a:r>
          </a:p>
          <a:p>
            <a:r>
              <a:rPr lang="en-IN" dirty="0"/>
              <a:t>For that some specific protocols are designed with some minor modifications in the already available protocols.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Bluetooth 4.0 – BLE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Light Fidelity – Li-Fi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085F8-36BA-FE1D-69D1-1590C109D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012" y="4598913"/>
            <a:ext cx="2011511" cy="2011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EB515-5B4B-2266-A231-BAAD265F9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688" y="4598913"/>
            <a:ext cx="1919874" cy="191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44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A2C0-D201-7F4D-711E-C12EBC4D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1D67-5384-EDB6-5EDF-21C5EA65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Bluetooth Low Energy</a:t>
            </a:r>
          </a:p>
          <a:p>
            <a:r>
              <a:rPr lang="en-IN" dirty="0"/>
              <a:t>BLE is open low energy short range radio communication technology.</a:t>
            </a:r>
          </a:p>
          <a:p>
            <a:r>
              <a:rPr lang="en-IN" dirty="0"/>
              <a:t>This protocol is designed by Bluetooth Special Interest Group (SIG)</a:t>
            </a:r>
          </a:p>
          <a:p>
            <a:r>
              <a:rPr lang="en-IN" dirty="0"/>
              <a:t>Working is same as Bluetooth in PAN (Personal Area Network)</a:t>
            </a:r>
          </a:p>
          <a:p>
            <a:r>
              <a:rPr lang="en-IN" dirty="0"/>
              <a:t>BLE is considered superior to the Bluetooth due to some features like,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Power Saving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Supported by Android, iOS, BlackBerry etc.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Supported by Computer OS like, Windows, MAC, Linux variants.</a:t>
            </a:r>
          </a:p>
          <a:p>
            <a:r>
              <a:rPr lang="en-IN" dirty="0"/>
              <a:t>Because of this, BLE is widely used in areas like,</a:t>
            </a:r>
          </a:p>
          <a:p>
            <a:pPr lvl="1"/>
            <a:r>
              <a:rPr lang="en-IN" dirty="0"/>
              <a:t>Healthcare</a:t>
            </a:r>
          </a:p>
          <a:p>
            <a:pPr lvl="1"/>
            <a:r>
              <a:rPr lang="en-IN" dirty="0"/>
              <a:t>Environment</a:t>
            </a:r>
          </a:p>
          <a:p>
            <a:pPr lvl="1"/>
            <a:r>
              <a:rPr lang="en-IN" dirty="0"/>
              <a:t>Fitness (Wearable Devices)</a:t>
            </a:r>
          </a:p>
          <a:p>
            <a:pPr lvl="1"/>
            <a:r>
              <a:rPr lang="en-IN" dirty="0"/>
              <a:t>Proximity related applications</a:t>
            </a:r>
          </a:p>
          <a:p>
            <a:pPr lvl="1"/>
            <a:r>
              <a:rPr lang="en-IN" dirty="0"/>
              <a:t>Tracking Devices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89629-1C23-8DA3-C6EA-9E6645BD4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23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D502-B4FD-FE99-A243-46267CBD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95E86-5323-6F47-489E-E896B2689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some key features of BLE that makes it more suitable with IoT,</a:t>
            </a:r>
          </a:p>
          <a:p>
            <a:pPr lvl="1"/>
            <a:r>
              <a:rPr lang="en-IN" dirty="0"/>
              <a:t>Licence free and no additional cost is required.</a:t>
            </a:r>
          </a:p>
          <a:p>
            <a:pPr lvl="1"/>
            <a:r>
              <a:rPr lang="en-IN" dirty="0"/>
              <a:t>No restrictions to manufacturer</a:t>
            </a:r>
          </a:p>
          <a:p>
            <a:pPr lvl="1"/>
            <a:r>
              <a:rPr lang="en-IN" dirty="0"/>
              <a:t>BLE modules are inexpensive and affordable</a:t>
            </a:r>
          </a:p>
          <a:p>
            <a:pPr lvl="1"/>
            <a:r>
              <a:rPr lang="en-IN" dirty="0"/>
              <a:t>Modules are small in size, and less power requirements</a:t>
            </a:r>
          </a:p>
          <a:p>
            <a:pPr lvl="1"/>
            <a:r>
              <a:rPr lang="en-IN" dirty="0"/>
              <a:t>Range of BLE is higher than classic Bluetooth.</a:t>
            </a:r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0D601-B4C0-647A-511A-A63DF0AAE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5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FD71-8173-2EC0-8A4C-389D9C47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3131-DC21-D5A7-CF58-44B47985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EAC2-BD35-6B7E-64FC-0FFD55645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Architecture of BLE consists of mainly 3 components</a:t>
            </a:r>
          </a:p>
          <a:p>
            <a:pPr lvl="1"/>
            <a:r>
              <a:rPr lang="en-IN" dirty="0"/>
              <a:t>Application Block</a:t>
            </a:r>
          </a:p>
          <a:p>
            <a:pPr lvl="2"/>
            <a:r>
              <a:rPr lang="en-IN" dirty="0"/>
              <a:t>Here user application is accommodated.</a:t>
            </a:r>
          </a:p>
          <a:p>
            <a:pPr lvl="2"/>
            <a:r>
              <a:rPr lang="en-IN" dirty="0"/>
              <a:t>Interacts directly with Bluetooth Stack.</a:t>
            </a:r>
          </a:p>
          <a:p>
            <a:pPr lvl="1"/>
            <a:r>
              <a:rPr lang="en-IN" dirty="0"/>
              <a:t>Host Block:</a:t>
            </a:r>
          </a:p>
          <a:p>
            <a:pPr lvl="2"/>
            <a:r>
              <a:rPr lang="en-IN" dirty="0"/>
              <a:t>Upper layer of Bluetooth Stack.</a:t>
            </a:r>
          </a:p>
          <a:p>
            <a:pPr lvl="1"/>
            <a:r>
              <a:rPr lang="en-IN" dirty="0"/>
              <a:t>Controller Block</a:t>
            </a:r>
          </a:p>
          <a:p>
            <a:pPr lvl="2"/>
            <a:r>
              <a:rPr lang="en-IN" dirty="0"/>
              <a:t>Lower layer of Bluetooth Stack.</a:t>
            </a:r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E1908-D2BF-0AA5-6F74-D15E05B5D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29A2F78-FDE2-0199-7029-A44C2D962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740368"/>
              </p:ext>
            </p:extLst>
          </p:nvPr>
        </p:nvGraphicFramePr>
        <p:xfrm>
          <a:off x="3506839" y="185037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6144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DDB8-E060-129F-1A05-DD681D22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4F58-BE2A-1A6B-86EC-0D2E8E2D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320B1-F609-98A1-AC49-F0E2F084C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0C490F-3F45-8FCE-1CBF-5B34AF389199}"/>
              </a:ext>
            </a:extLst>
          </p:cNvPr>
          <p:cNvSpPr/>
          <p:nvPr/>
        </p:nvSpPr>
        <p:spPr>
          <a:xfrm>
            <a:off x="3234813" y="993058"/>
            <a:ext cx="6400800" cy="57284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867DF-E162-D344-6595-2178DE90E3A9}"/>
              </a:ext>
            </a:extLst>
          </p:cNvPr>
          <p:cNvSpPr/>
          <p:nvPr/>
        </p:nvSpPr>
        <p:spPr>
          <a:xfrm>
            <a:off x="3392129" y="1138084"/>
            <a:ext cx="6056671" cy="572729"/>
          </a:xfrm>
          <a:prstGeom prst="rect">
            <a:avLst/>
          </a:prstGeom>
          <a:noFill/>
          <a:ln w="28575">
            <a:solidFill>
              <a:srgbClr val="52B7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CD90F-DD70-7788-A36B-85BECB7C109C}"/>
              </a:ext>
            </a:extLst>
          </p:cNvPr>
          <p:cNvSpPr/>
          <p:nvPr/>
        </p:nvSpPr>
        <p:spPr>
          <a:xfrm>
            <a:off x="3392129" y="2139643"/>
            <a:ext cx="6056671" cy="2481518"/>
          </a:xfrm>
          <a:prstGeom prst="rect">
            <a:avLst/>
          </a:prstGeom>
          <a:noFill/>
          <a:ln w="28575">
            <a:solidFill>
              <a:srgbClr val="52B7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21CEF1-0EB1-DB2F-4C17-69D0225F9F4B}"/>
              </a:ext>
            </a:extLst>
          </p:cNvPr>
          <p:cNvSpPr/>
          <p:nvPr/>
        </p:nvSpPr>
        <p:spPr>
          <a:xfrm>
            <a:off x="3485536" y="2280981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Generic Access Profile (GAP)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3A8DEE-E167-610B-6C54-F81A9C6702BB}"/>
              </a:ext>
            </a:extLst>
          </p:cNvPr>
          <p:cNvSpPr/>
          <p:nvPr/>
        </p:nvSpPr>
        <p:spPr>
          <a:xfrm>
            <a:off x="6481917" y="2280980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Generic Attribute Profile (GATT)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692671-7201-E6F0-D35A-3A27919D5AA1}"/>
              </a:ext>
            </a:extLst>
          </p:cNvPr>
          <p:cNvSpPr/>
          <p:nvPr/>
        </p:nvSpPr>
        <p:spPr>
          <a:xfrm>
            <a:off x="3485536" y="3094037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Security Management Profile (SMP)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36C095-DE5A-8CE3-AB8F-943E79D47D68}"/>
              </a:ext>
            </a:extLst>
          </p:cNvPr>
          <p:cNvSpPr/>
          <p:nvPr/>
        </p:nvSpPr>
        <p:spPr>
          <a:xfrm>
            <a:off x="6481917" y="3090350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Attribute Protocol</a:t>
            </a:r>
          </a:p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(ATT)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14AAA4-1E2F-8A5D-5805-DB412A4645D5}"/>
              </a:ext>
            </a:extLst>
          </p:cNvPr>
          <p:cNvSpPr/>
          <p:nvPr/>
        </p:nvSpPr>
        <p:spPr>
          <a:xfrm>
            <a:off x="3485535" y="3907093"/>
            <a:ext cx="5803491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Logical Link Control and Adaptation Protocol</a:t>
            </a:r>
          </a:p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(L2CAP)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40CD5D-B0D3-0C93-5DE5-B4814AB8E440}"/>
              </a:ext>
            </a:extLst>
          </p:cNvPr>
          <p:cNvCxnSpPr>
            <a:cxnSpLocks/>
          </p:cNvCxnSpPr>
          <p:nvPr/>
        </p:nvCxnSpPr>
        <p:spPr>
          <a:xfrm>
            <a:off x="3392129" y="5053781"/>
            <a:ext cx="6154994" cy="0"/>
          </a:xfrm>
          <a:prstGeom prst="line">
            <a:avLst/>
          </a:prstGeom>
          <a:ln w="28575">
            <a:solidFill>
              <a:srgbClr val="52B78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C9FCED-437F-BCB1-8B50-FDC1B5614D8F}"/>
              </a:ext>
            </a:extLst>
          </p:cNvPr>
          <p:cNvSpPr txBox="1"/>
          <p:nvPr/>
        </p:nvSpPr>
        <p:spPr>
          <a:xfrm>
            <a:off x="4572002" y="4716462"/>
            <a:ext cx="344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Host Controller Interface (HCI)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22A468-92CC-990B-DA0A-DC2698FD9160}"/>
              </a:ext>
            </a:extLst>
          </p:cNvPr>
          <p:cNvSpPr/>
          <p:nvPr/>
        </p:nvSpPr>
        <p:spPr>
          <a:xfrm>
            <a:off x="3392128" y="5294467"/>
            <a:ext cx="6056671" cy="1204654"/>
          </a:xfrm>
          <a:prstGeom prst="rect">
            <a:avLst/>
          </a:prstGeom>
          <a:noFill/>
          <a:ln w="28575">
            <a:solidFill>
              <a:srgbClr val="52B7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87A43F-4712-2B44-1498-3FEB6938E33A}"/>
              </a:ext>
            </a:extLst>
          </p:cNvPr>
          <p:cNvSpPr/>
          <p:nvPr/>
        </p:nvSpPr>
        <p:spPr>
          <a:xfrm>
            <a:off x="3485534" y="5369598"/>
            <a:ext cx="5803491" cy="4953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Link Layer (LL)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BBDC5C-CB4B-6EBD-9C16-FFC6E6F44584}"/>
              </a:ext>
            </a:extLst>
          </p:cNvPr>
          <p:cNvSpPr/>
          <p:nvPr/>
        </p:nvSpPr>
        <p:spPr>
          <a:xfrm>
            <a:off x="3518717" y="5934359"/>
            <a:ext cx="5803491" cy="4953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Physical Layer (PHY)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6011A-FEBE-AE67-1414-2D2E14FFF278}"/>
              </a:ext>
            </a:extLst>
          </p:cNvPr>
          <p:cNvSpPr txBox="1"/>
          <p:nvPr/>
        </p:nvSpPr>
        <p:spPr>
          <a:xfrm>
            <a:off x="610829" y="1138084"/>
            <a:ext cx="214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Application</a:t>
            </a:r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D37716-A4DC-AB6C-90F0-FA41A486FAF8}"/>
              </a:ext>
            </a:extLst>
          </p:cNvPr>
          <p:cNvSpPr txBox="1"/>
          <p:nvPr/>
        </p:nvSpPr>
        <p:spPr>
          <a:xfrm>
            <a:off x="610829" y="2911474"/>
            <a:ext cx="214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Host</a:t>
            </a:r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250B97-01F4-695A-EA20-FEEF68FC47F6}"/>
              </a:ext>
            </a:extLst>
          </p:cNvPr>
          <p:cNvSpPr txBox="1"/>
          <p:nvPr/>
        </p:nvSpPr>
        <p:spPr>
          <a:xfrm>
            <a:off x="610829" y="5719048"/>
            <a:ext cx="214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Controller</a:t>
            </a:r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514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410B3-A461-427C-F8DD-F3546FCA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0F177-080D-466F-CF21-637D0AB8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B228-6BB6-A2B7-1CE1-7F9D4935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Controller</a:t>
            </a:r>
            <a:r>
              <a:rPr lang="en-IN" dirty="0"/>
              <a:t>: It has 3 Components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Host Controller Interface (HCI): </a:t>
            </a:r>
            <a:r>
              <a:rPr lang="en-IN" dirty="0"/>
              <a:t>Used to enable interoperability between hosts and controllers assembled by different manufacturers.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Link Layer (LL): </a:t>
            </a:r>
            <a:r>
              <a:rPr lang="en-IN" dirty="0"/>
              <a:t>Defines the packet structure.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Physical Layer (PHY): </a:t>
            </a:r>
            <a:r>
              <a:rPr lang="en-IN" dirty="0"/>
              <a:t>It takes care of transmission/reception, modulation/demodulation and </a:t>
            </a:r>
            <a:r>
              <a:rPr lang="en-IN" dirty="0" err="1"/>
              <a:t>analog</a:t>
            </a:r>
            <a:r>
              <a:rPr lang="en-IN" dirty="0"/>
              <a:t>-to-digital and vice-versa conversion.</a:t>
            </a:r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C782C-27AB-40C5-2D08-3865A3432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2A27F8-C780-5285-AAE1-68587D0B8EF2}"/>
              </a:ext>
            </a:extLst>
          </p:cNvPr>
          <p:cNvCxnSpPr>
            <a:cxnSpLocks/>
          </p:cNvCxnSpPr>
          <p:nvPr/>
        </p:nvCxnSpPr>
        <p:spPr>
          <a:xfrm>
            <a:off x="3392129" y="5053781"/>
            <a:ext cx="6154994" cy="0"/>
          </a:xfrm>
          <a:prstGeom prst="line">
            <a:avLst/>
          </a:prstGeom>
          <a:ln w="28575">
            <a:solidFill>
              <a:srgbClr val="52B78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5FDD75-52B5-FF65-D936-B57278362227}"/>
              </a:ext>
            </a:extLst>
          </p:cNvPr>
          <p:cNvSpPr txBox="1"/>
          <p:nvPr/>
        </p:nvSpPr>
        <p:spPr>
          <a:xfrm>
            <a:off x="4572002" y="4716462"/>
            <a:ext cx="344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Host Controller Interface (HCI)</a:t>
            </a:r>
            <a:endParaRPr lang="en-IN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F3CE09-A029-1CA8-1D68-91D4046DCC83}"/>
              </a:ext>
            </a:extLst>
          </p:cNvPr>
          <p:cNvSpPr/>
          <p:nvPr/>
        </p:nvSpPr>
        <p:spPr>
          <a:xfrm>
            <a:off x="3392128" y="5294467"/>
            <a:ext cx="6056671" cy="1204654"/>
          </a:xfrm>
          <a:prstGeom prst="rect">
            <a:avLst/>
          </a:prstGeom>
          <a:noFill/>
          <a:ln w="28575">
            <a:solidFill>
              <a:srgbClr val="52B7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F88B0A-800C-0DBA-3DCB-7760587886EB}"/>
              </a:ext>
            </a:extLst>
          </p:cNvPr>
          <p:cNvSpPr/>
          <p:nvPr/>
        </p:nvSpPr>
        <p:spPr>
          <a:xfrm>
            <a:off x="3485534" y="5369598"/>
            <a:ext cx="5803491" cy="4953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Link Layer (LL)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C1BBD1-956C-2292-B0EC-7B42134CDBD4}"/>
              </a:ext>
            </a:extLst>
          </p:cNvPr>
          <p:cNvSpPr/>
          <p:nvPr/>
        </p:nvSpPr>
        <p:spPr>
          <a:xfrm>
            <a:off x="3518717" y="5934359"/>
            <a:ext cx="5803491" cy="4953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Physical Layer (PHY)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95A6B-2EA8-7C25-A08A-D4D838D8D7BA}"/>
              </a:ext>
            </a:extLst>
          </p:cNvPr>
          <p:cNvSpPr txBox="1"/>
          <p:nvPr/>
        </p:nvSpPr>
        <p:spPr>
          <a:xfrm>
            <a:off x="610829" y="5719048"/>
            <a:ext cx="214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Controller</a:t>
            </a:r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52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6D63-EC0E-1F59-A854-D68B4E41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DB49-6AE8-AB70-7DE4-349509908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2983602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Host:</a:t>
            </a:r>
            <a:r>
              <a:rPr lang="en-IN" dirty="0"/>
              <a:t> It has 6 Components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Generic Access Profile (GAP): </a:t>
            </a:r>
            <a:r>
              <a:rPr lang="en-IN" dirty="0"/>
              <a:t>Device discovery, Connection Management and Security.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Generic Attribute Profile (GATT): </a:t>
            </a:r>
            <a:r>
              <a:rPr lang="en-IN" dirty="0"/>
              <a:t>For Data Exchange process. Generic guidelines are given by GATT to Push data or read/write data.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Attribute Protocol (ATT):</a:t>
            </a:r>
            <a:r>
              <a:rPr lang="en-IN" dirty="0"/>
              <a:t> Protocol for Accessing data.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Logical Link Control and Adaptation Protocol (L2CAP): </a:t>
            </a:r>
            <a:r>
              <a:rPr lang="en-IN" dirty="0"/>
              <a:t>For Fragmentation/De-fragmentation of Application data. Also Multiplexing/de-multiplexing of channels over the shared Logical Link.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Security Manager (SM): </a:t>
            </a:r>
            <a:r>
              <a:rPr lang="en-IN" dirty="0"/>
              <a:t>Takes care of Pairing, Authentication and Encryption.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Host Controller Interface (HCI): </a:t>
            </a:r>
            <a:r>
              <a:rPr lang="en-IN" dirty="0"/>
              <a:t>Used to enable interoperability between hosts and controllers from different manufacturers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00198-B0E0-961A-0CDD-87D5067B9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81FC18-9405-661C-CBD1-D988353CD9D4}"/>
              </a:ext>
            </a:extLst>
          </p:cNvPr>
          <p:cNvSpPr/>
          <p:nvPr/>
        </p:nvSpPr>
        <p:spPr>
          <a:xfrm>
            <a:off x="3392129" y="4332237"/>
            <a:ext cx="6056671" cy="2481518"/>
          </a:xfrm>
          <a:prstGeom prst="rect">
            <a:avLst/>
          </a:prstGeom>
          <a:noFill/>
          <a:ln w="28575">
            <a:solidFill>
              <a:srgbClr val="52B7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6FAB7-1EF8-C786-8642-D6353964BED5}"/>
              </a:ext>
            </a:extLst>
          </p:cNvPr>
          <p:cNvSpPr/>
          <p:nvPr/>
        </p:nvSpPr>
        <p:spPr>
          <a:xfrm>
            <a:off x="3485536" y="4473575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Generic Access Profile (GAP)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3E553-6718-224A-EEB3-233070BAB460}"/>
              </a:ext>
            </a:extLst>
          </p:cNvPr>
          <p:cNvSpPr/>
          <p:nvPr/>
        </p:nvSpPr>
        <p:spPr>
          <a:xfrm>
            <a:off x="6481917" y="4473574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Generic Attribute Profile (GATT)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FEF97-2FD3-9A27-FE5F-365B35A68A12}"/>
              </a:ext>
            </a:extLst>
          </p:cNvPr>
          <p:cNvSpPr/>
          <p:nvPr/>
        </p:nvSpPr>
        <p:spPr>
          <a:xfrm>
            <a:off x="3485536" y="5286631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Security Management Profile (SMP)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3EA5E5-658C-E69A-F7BF-65D72A27352E}"/>
              </a:ext>
            </a:extLst>
          </p:cNvPr>
          <p:cNvSpPr/>
          <p:nvPr/>
        </p:nvSpPr>
        <p:spPr>
          <a:xfrm>
            <a:off x="6481917" y="5282944"/>
            <a:ext cx="2807110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Attribute Protocol</a:t>
            </a:r>
          </a:p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(ATT)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26FFBE-470F-29A0-5F6D-AB87100E0A3F}"/>
              </a:ext>
            </a:extLst>
          </p:cNvPr>
          <p:cNvSpPr/>
          <p:nvPr/>
        </p:nvSpPr>
        <p:spPr>
          <a:xfrm>
            <a:off x="3485535" y="6099687"/>
            <a:ext cx="5803491" cy="57272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Logical Link Control and Adaptation Protocol</a:t>
            </a:r>
          </a:p>
          <a:p>
            <a:pPr algn="ctr"/>
            <a:r>
              <a:rPr lang="en-IN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(L2CAP)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BFCFC-5E85-EDC9-24FC-E8CFB9DB28BE}"/>
              </a:ext>
            </a:extLst>
          </p:cNvPr>
          <p:cNvSpPr txBox="1"/>
          <p:nvPr/>
        </p:nvSpPr>
        <p:spPr>
          <a:xfrm>
            <a:off x="610829" y="5104068"/>
            <a:ext cx="214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Host</a:t>
            </a:r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158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47DAF-3103-84FF-58F8-D8634C2A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41D9-C737-2532-E4F3-FA9E2F6F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BAA51-5335-EEF3-6BF8-876F42DA6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298360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Application:</a:t>
            </a:r>
            <a:r>
              <a:rPr lang="en-IN" dirty="0"/>
              <a:t> It has only 1 Component</a:t>
            </a:r>
          </a:p>
          <a:p>
            <a:pPr lvl="1"/>
            <a:r>
              <a:rPr lang="en-IN" b="1" dirty="0">
                <a:solidFill>
                  <a:srgbClr val="FF0000"/>
                </a:solidFill>
              </a:rPr>
              <a:t>Application: </a:t>
            </a:r>
            <a:r>
              <a:rPr lang="en-IN" dirty="0"/>
              <a:t>It is same as Application Layer in OSI Model. Top most layer, which is responsible for UI, Logic and Data Representation.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C83C9-65E9-9B39-72DB-1CEF10B98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3240647-37F2-9F19-DEC3-CCDC15D724EC}"/>
              </a:ext>
            </a:extLst>
          </p:cNvPr>
          <p:cNvSpPr/>
          <p:nvPr/>
        </p:nvSpPr>
        <p:spPr>
          <a:xfrm>
            <a:off x="3805084" y="4776028"/>
            <a:ext cx="6056671" cy="572729"/>
          </a:xfrm>
          <a:prstGeom prst="rect">
            <a:avLst/>
          </a:prstGeom>
          <a:noFill/>
          <a:ln w="28575">
            <a:solidFill>
              <a:srgbClr val="52B7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0B01F-9F65-5AB2-500C-A69AF277DFFA}"/>
              </a:ext>
            </a:extLst>
          </p:cNvPr>
          <p:cNvSpPr txBox="1"/>
          <p:nvPr/>
        </p:nvSpPr>
        <p:spPr>
          <a:xfrm>
            <a:off x="1023784" y="4776028"/>
            <a:ext cx="2143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Application</a:t>
            </a:r>
            <a:endParaRPr lang="en-IN" sz="2400" b="1" dirty="0">
              <a:solidFill>
                <a:srgbClr val="FF0000"/>
              </a:solidFill>
              <a:latin typeface="Alice" pitchFamily="2" charset="0"/>
              <a:ea typeface="Al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761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5396A-BF40-6563-BDE9-505E51FF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EAB9-967B-18A8-0CBB-77CDCD35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6705-4C07-ECF1-7D89-038CE441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4087763" cy="5468144"/>
          </a:xfrm>
        </p:spPr>
        <p:txBody>
          <a:bodyPr>
            <a:normAutofit/>
          </a:bodyPr>
          <a:lstStyle/>
          <a:p>
            <a:r>
              <a:rPr lang="en-IN" dirty="0"/>
              <a:t>Broadcasting in BLE:</a:t>
            </a:r>
          </a:p>
          <a:p>
            <a:pPr lvl="1"/>
            <a:r>
              <a:rPr lang="en-IN" dirty="0"/>
              <a:t>Meaning sending a message to more than one recipient</a:t>
            </a:r>
          </a:p>
          <a:p>
            <a:pPr lvl="1"/>
            <a:r>
              <a:rPr lang="en-IN" dirty="0"/>
              <a:t>Only One-way Comm.</a:t>
            </a:r>
          </a:p>
          <a:p>
            <a:pPr lvl="1"/>
            <a:r>
              <a:rPr lang="en-IN" dirty="0"/>
              <a:t>If receiver is in the vicinity of the broadcaster then the message will be received</a:t>
            </a:r>
          </a:p>
          <a:p>
            <a:pPr lvl="1"/>
            <a:r>
              <a:rPr lang="en-IN" dirty="0"/>
              <a:t>2 – Parties are involved in this:</a:t>
            </a:r>
          </a:p>
          <a:p>
            <a:pPr lvl="2"/>
            <a:r>
              <a:rPr lang="en-IN" b="1" dirty="0">
                <a:solidFill>
                  <a:srgbClr val="FF0000"/>
                </a:solidFill>
              </a:rPr>
              <a:t>Broadcaster</a:t>
            </a:r>
          </a:p>
          <a:p>
            <a:pPr lvl="2"/>
            <a:r>
              <a:rPr lang="en-IN" b="1" dirty="0">
                <a:solidFill>
                  <a:srgbClr val="FF0000"/>
                </a:solidFill>
              </a:rPr>
              <a:t>Observer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7A661-F0D4-B0E9-EFA9-9770A68DC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ACCAFB-6613-CBAF-C1C7-19F7E0185C4F}"/>
              </a:ext>
            </a:extLst>
          </p:cNvPr>
          <p:cNvSpPr/>
          <p:nvPr/>
        </p:nvSpPr>
        <p:spPr>
          <a:xfrm>
            <a:off x="7403693" y="3169111"/>
            <a:ext cx="1976280" cy="942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rgbClr val="FF0000"/>
                </a:solidFill>
                <a:latin typeface="Alice" pitchFamily="2" charset="0"/>
                <a:ea typeface="Alice" pitchFamily="2" charset="0"/>
              </a:rPr>
              <a:t>Broadcaster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967501-851C-7229-06F9-E234F021DD65}"/>
              </a:ext>
            </a:extLst>
          </p:cNvPr>
          <p:cNvSpPr/>
          <p:nvPr/>
        </p:nvSpPr>
        <p:spPr>
          <a:xfrm>
            <a:off x="4503176" y="1564837"/>
            <a:ext cx="1848462" cy="1047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Observer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0E47DD-3D1E-01BC-0828-DAD0A5409459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6351638" y="2088405"/>
            <a:ext cx="1455175" cy="10807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659B645-DA5E-5405-9F59-9F6F2E0D98A4}"/>
              </a:ext>
            </a:extLst>
          </p:cNvPr>
          <p:cNvSpPr/>
          <p:nvPr/>
        </p:nvSpPr>
        <p:spPr>
          <a:xfrm>
            <a:off x="4439267" y="3116827"/>
            <a:ext cx="1848462" cy="1047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Observer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F7E487-E223-E010-0BF1-DE54878BE75D}"/>
              </a:ext>
            </a:extLst>
          </p:cNvPr>
          <p:cNvSpPr/>
          <p:nvPr/>
        </p:nvSpPr>
        <p:spPr>
          <a:xfrm>
            <a:off x="4503176" y="4668817"/>
            <a:ext cx="1848462" cy="1047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Observer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7C7770-2345-46C4-E682-02679B984981}"/>
              </a:ext>
            </a:extLst>
          </p:cNvPr>
          <p:cNvSpPr/>
          <p:nvPr/>
        </p:nvSpPr>
        <p:spPr>
          <a:xfrm>
            <a:off x="10213262" y="4668817"/>
            <a:ext cx="1848462" cy="1047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Observer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F6B592-7EEE-7FF7-1A8C-D06E683B7488}"/>
              </a:ext>
            </a:extLst>
          </p:cNvPr>
          <p:cNvSpPr/>
          <p:nvPr/>
        </p:nvSpPr>
        <p:spPr>
          <a:xfrm>
            <a:off x="10213262" y="3116827"/>
            <a:ext cx="1848462" cy="1047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Observer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DADCF17-6CAE-7328-741C-A8BE11BBE05A}"/>
              </a:ext>
            </a:extLst>
          </p:cNvPr>
          <p:cNvSpPr/>
          <p:nvPr/>
        </p:nvSpPr>
        <p:spPr>
          <a:xfrm>
            <a:off x="10213262" y="1564837"/>
            <a:ext cx="1848462" cy="1047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112A46"/>
                </a:solidFill>
                <a:latin typeface="Alice" pitchFamily="2" charset="0"/>
                <a:ea typeface="Alice" pitchFamily="2" charset="0"/>
              </a:rPr>
              <a:t>Observer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E20D5F-B54C-F0AC-C7F4-2F61E88B79BB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8885903" y="2088405"/>
            <a:ext cx="1327359" cy="10807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18A9D7-0591-8C25-B61E-86410EDA085C}"/>
              </a:ext>
            </a:extLst>
          </p:cNvPr>
          <p:cNvCxnSpPr>
            <a:cxnSpLocks/>
            <a:stCxn id="5" idx="3"/>
            <a:endCxn id="21" idx="2"/>
          </p:cNvCxnSpPr>
          <p:nvPr/>
        </p:nvCxnSpPr>
        <p:spPr>
          <a:xfrm>
            <a:off x="9379973" y="3640395"/>
            <a:ext cx="83328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7CABE0-74D1-AAEF-2891-BF80F50E0CB1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922777" y="4111679"/>
            <a:ext cx="1290485" cy="10807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048CD9-58AF-147F-EBD7-7FA28E8E3465}"/>
              </a:ext>
            </a:extLst>
          </p:cNvPr>
          <p:cNvCxnSpPr>
            <a:cxnSpLocks/>
            <a:stCxn id="5" idx="1"/>
            <a:endCxn id="18" idx="6"/>
          </p:cNvCxnSpPr>
          <p:nvPr/>
        </p:nvCxnSpPr>
        <p:spPr>
          <a:xfrm flipH="1">
            <a:off x="6287729" y="3640395"/>
            <a:ext cx="11159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3C85D1-6FCA-D796-91DF-1B65A4FEDB5E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6351638" y="4119432"/>
            <a:ext cx="1455175" cy="10729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019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E236-C11F-A551-2A70-02CB3BF8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BDAE-9C50-6745-6B8D-487E55EA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CAE0-E8D8-5A74-42F8-08558ACFF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546814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Broadcaster:</a:t>
            </a:r>
          </a:p>
          <a:p>
            <a:pPr lvl="1"/>
            <a:r>
              <a:rPr lang="en-IN" dirty="0"/>
              <a:t>Sends a non-connectable advertising packets in frequent intervals to all those who are willing to collect which is similar to radio broadcast.</a:t>
            </a:r>
          </a:p>
          <a:p>
            <a:r>
              <a:rPr lang="en-IN" b="1" dirty="0">
                <a:solidFill>
                  <a:srgbClr val="FF0000"/>
                </a:solidFill>
              </a:rPr>
              <a:t>Observer:</a:t>
            </a:r>
          </a:p>
          <a:p>
            <a:pPr lvl="1"/>
            <a:r>
              <a:rPr lang="en-IN" dirty="0"/>
              <a:t>The observer will keep scanning predefined frequency to receive any non-connectable packets.</a:t>
            </a:r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D787C-CE10-8DE4-51C2-636A66CDF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812" y="136525"/>
            <a:ext cx="770188" cy="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43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035B-8AE8-4B67-1727-D509E9EB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D8F5-39CD-1704-3375-14C737D9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Li-Fi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4BEFD-ADC7-0053-99B1-BF49830D0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5468144"/>
          </a:xfrm>
        </p:spPr>
        <p:txBody>
          <a:bodyPr>
            <a:normAutofit/>
          </a:bodyPr>
          <a:lstStyle/>
          <a:p>
            <a:r>
              <a:rPr lang="en-IN" dirty="0"/>
              <a:t>Light Fidelity</a:t>
            </a:r>
          </a:p>
          <a:p>
            <a:r>
              <a:rPr lang="en-IN" dirty="0"/>
              <a:t>Fastest communication protocol in current time.</a:t>
            </a:r>
          </a:p>
          <a:p>
            <a:r>
              <a:rPr lang="en-IN" dirty="0"/>
              <a:t>It solves some problems of Wi-Fi Communications like,</a:t>
            </a:r>
          </a:p>
          <a:p>
            <a:pPr lvl="1"/>
            <a:r>
              <a:rPr lang="en-IN" dirty="0"/>
              <a:t>More secured than Wi-Fi</a:t>
            </a:r>
          </a:p>
          <a:p>
            <a:pPr lvl="1"/>
            <a:r>
              <a:rPr lang="en-IN" dirty="0"/>
              <a:t>More available bandwidth</a:t>
            </a:r>
          </a:p>
          <a:p>
            <a:pPr lvl="1"/>
            <a:r>
              <a:rPr lang="en-IN" dirty="0"/>
              <a:t>Less/No Congestion with more number of nodes connecting to a single central device.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0AF80-237A-41E2-6D68-797A1BDBB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535" y="136525"/>
            <a:ext cx="770188" cy="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336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20CD-01FB-AE59-6F6A-8B825D43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7978-10A4-3C40-323C-07CB6200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Li-Fi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99D08-7DEB-B76A-108C-6FF3F67F6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535" y="136525"/>
            <a:ext cx="770188" cy="77018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789CCC8-9DE6-47F5-3300-0B7CF371F0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3"/>
          <a:stretch/>
        </p:blipFill>
        <p:spPr bwMode="auto">
          <a:xfrm>
            <a:off x="1185467" y="1169282"/>
            <a:ext cx="9821065" cy="555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4573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DF50-DE93-ABE8-E3A9-13460F13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1C4C-1065-D23B-4C4B-8CF38C08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Li-Fi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BC799-BECA-8537-74BB-D09683DF7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1447" cy="5468144"/>
          </a:xfrm>
        </p:spPr>
        <p:txBody>
          <a:bodyPr>
            <a:normAutofit fontScale="92500"/>
          </a:bodyPr>
          <a:lstStyle/>
          <a:p>
            <a:r>
              <a:rPr lang="en-IN" dirty="0"/>
              <a:t>The Server wants to transmit the data to the receiver with very high speed. Server needs to be connected to Internet or Intranet.</a:t>
            </a:r>
          </a:p>
          <a:p>
            <a:r>
              <a:rPr lang="en-IN" dirty="0"/>
              <a:t>The transmitted data generated will be converted into streaming content.</a:t>
            </a:r>
          </a:p>
          <a:p>
            <a:r>
              <a:rPr lang="en-IN" dirty="0"/>
              <a:t>Then that content is given to a Lamp Driver, powered by an external source.</a:t>
            </a:r>
          </a:p>
          <a:p>
            <a:r>
              <a:rPr lang="en-IN" dirty="0"/>
              <a:t>LED lamp is turned ON and OFF at a very high speed, which is at very high speed that human eyes can’t capture it.</a:t>
            </a:r>
          </a:p>
          <a:p>
            <a:r>
              <a:rPr lang="en-IN" dirty="0"/>
              <a:t>The light is received by the photo detector and is passed on to the demodulation process and amplification to generate the data stream sent by transmitter.</a:t>
            </a:r>
          </a:p>
          <a:p>
            <a:r>
              <a:rPr lang="en-IN" dirty="0"/>
              <a:t>The Received data stream is further given to the receiver (ex. PC, Mobile etc.) via some Application.</a:t>
            </a:r>
          </a:p>
          <a:p>
            <a:r>
              <a:rPr lang="en-IN" dirty="0"/>
              <a:t>All components used for receiving the data is known as receiver dongle.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C4E653-FE55-FEB9-D439-2E5BEEA1A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535" y="136525"/>
            <a:ext cx="770188" cy="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818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99E4-BC9B-B6EB-565D-5AC06D17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815E-F938-A526-3ADB-0C7EEC80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Transport Protocols: </a:t>
            </a:r>
            <a:r>
              <a:rPr lang="en-IN" dirty="0">
                <a:solidFill>
                  <a:srgbClr val="00B050"/>
                </a:solidFill>
              </a:rPr>
              <a:t>Li-Fi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4D29-6FF9-5F02-3646-807481A0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1447" cy="546814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Advantages:</a:t>
            </a:r>
          </a:p>
          <a:p>
            <a:pPr lvl="1"/>
            <a:r>
              <a:rPr lang="en-IN" dirty="0"/>
              <a:t>Extremely secure as Light cannot penetrate through walls and no data hijacking</a:t>
            </a:r>
          </a:p>
          <a:p>
            <a:pPr lvl="1"/>
            <a:r>
              <a:rPr lang="en-IN" dirty="0"/>
              <a:t>Fastest and Effective</a:t>
            </a:r>
          </a:p>
          <a:p>
            <a:pPr lvl="1"/>
            <a:r>
              <a:rPr lang="en-IN" dirty="0"/>
              <a:t>Effective alternate to RF communication</a:t>
            </a:r>
          </a:p>
          <a:p>
            <a:pPr lvl="1"/>
            <a:r>
              <a:rPr lang="en-IN" dirty="0"/>
              <a:t>Inexpensive, because light is generated through LEDs and detectors are also inexpensive.</a:t>
            </a:r>
          </a:p>
          <a:p>
            <a:r>
              <a:rPr lang="en-IN" b="1" dirty="0">
                <a:solidFill>
                  <a:srgbClr val="FF0000"/>
                </a:solidFill>
              </a:rPr>
              <a:t>Disadvantages:</a:t>
            </a:r>
          </a:p>
          <a:p>
            <a:pPr lvl="1"/>
            <a:r>
              <a:rPr lang="en-IN" dirty="0"/>
              <a:t>Can be implemented in short range only and no obstacle can be present between Lamp and Receiver dongle.</a:t>
            </a:r>
          </a:p>
          <a:p>
            <a:pPr lvl="1"/>
            <a:r>
              <a:rPr lang="en-IN" dirty="0"/>
              <a:t>Set-up requires some time.</a:t>
            </a:r>
          </a:p>
          <a:p>
            <a:pPr lvl="1"/>
            <a:r>
              <a:rPr lang="en-IN" dirty="0"/>
              <a:t>Bi-directional communication cannot be done, like sending data back from PC to the Server.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3C245-22D8-05BD-0550-0304E7D00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535" y="136525"/>
            <a:ext cx="770188" cy="77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46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09EE-922F-D581-F658-33E3E080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C63E-0023-74C9-4E97-4077EC6A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Sensor Network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316FE-B690-9D0A-44CE-B28753C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3802627" cy="546814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Sensors may be connected as a </a:t>
            </a:r>
            <a:r>
              <a:rPr lang="en-IN" b="1" dirty="0">
                <a:solidFill>
                  <a:srgbClr val="FF0000"/>
                </a:solidFill>
              </a:rPr>
              <a:t>Single-hop Network</a:t>
            </a:r>
            <a:r>
              <a:rPr lang="en-IN" dirty="0"/>
              <a:t>, where each sensor Node sends the data directly to the Sink Node.</a:t>
            </a:r>
          </a:p>
          <a:p>
            <a:r>
              <a:rPr lang="en-IN" dirty="0"/>
              <a:t>Or Multi-hop Network, where each Sensor Node relies on its neighbours to forward its sensory data to the Sink Node.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7628FF-1420-FB34-D4F0-25C36DB6E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8" y="940517"/>
            <a:ext cx="8170890" cy="53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838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DAC5-28B9-6F36-A925-2E61C5A2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Sensor Network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DB39-C8E8-E95A-3F8D-289BB719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Point-to-Point (Star) Topology:</a:t>
            </a:r>
          </a:p>
          <a:p>
            <a:pPr lvl="1"/>
            <a:r>
              <a:rPr lang="en-IN" b="1" dirty="0"/>
              <a:t>Centralised Control:</a:t>
            </a:r>
          </a:p>
          <a:p>
            <a:pPr lvl="2"/>
            <a:r>
              <a:rPr lang="en-US" dirty="0"/>
              <a:t>Central hub or base station manages and controls communication.</a:t>
            </a:r>
          </a:p>
          <a:p>
            <a:pPr lvl="2"/>
            <a:r>
              <a:rPr lang="en-US" dirty="0"/>
              <a:t>Simplifies network administration and monitoring.</a:t>
            </a:r>
          </a:p>
          <a:p>
            <a:pPr lvl="1"/>
            <a:r>
              <a:rPr lang="en-US" b="1" dirty="0"/>
              <a:t>Easy Expansion:</a:t>
            </a:r>
          </a:p>
          <a:p>
            <a:pPr lvl="2"/>
            <a:r>
              <a:rPr lang="en-US" dirty="0"/>
              <a:t>Easy to add or remove nodes without disrupting the entire network.</a:t>
            </a:r>
          </a:p>
          <a:p>
            <a:pPr lvl="2"/>
            <a:r>
              <a:rPr lang="en-US" dirty="0"/>
              <a:t>Scalable for small to medium-sized networks.	</a:t>
            </a:r>
          </a:p>
          <a:p>
            <a:pPr lvl="1"/>
            <a:r>
              <a:rPr lang="en-US" b="1" dirty="0"/>
              <a:t>Limited Scalability:</a:t>
            </a:r>
          </a:p>
          <a:p>
            <a:pPr lvl="2"/>
            <a:r>
              <a:rPr lang="en-US" dirty="0"/>
              <a:t>Becomes less efficient and scalable for large networks due to increased traffic at the central hub.</a:t>
            </a:r>
          </a:p>
          <a:p>
            <a:pPr lvl="1"/>
            <a:r>
              <a:rPr lang="en-US" b="1" dirty="0"/>
              <a:t>Single Point of Failure:</a:t>
            </a:r>
          </a:p>
          <a:p>
            <a:pPr lvl="2"/>
            <a:r>
              <a:rPr lang="en-US" dirty="0"/>
              <a:t>The central hub represents a potential single point of failure.</a:t>
            </a:r>
          </a:p>
          <a:p>
            <a:pPr lvl="2"/>
            <a:r>
              <a:rPr lang="en-US" dirty="0"/>
              <a:t>If the hub malfunctions, the entire network may be affected.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A9610-AF06-C61B-9AB1-0DFDB6F61E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46207"/>
          <a:stretch/>
        </p:blipFill>
        <p:spPr>
          <a:xfrm>
            <a:off x="9731785" y="823298"/>
            <a:ext cx="2066925" cy="212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846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CC72-A8AE-0735-AB16-42334CFD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256-6AFC-44CD-903A-4AB643F7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Sensor Network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84FEE-1AA0-8C11-A83F-E27E43B24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Mesh Topology:</a:t>
            </a:r>
          </a:p>
          <a:p>
            <a:pPr lvl="1"/>
            <a:r>
              <a:rPr lang="en-IN" b="1" dirty="0"/>
              <a:t>Connectivity:</a:t>
            </a:r>
          </a:p>
          <a:p>
            <a:pPr lvl="2"/>
            <a:r>
              <a:rPr lang="en-US" dirty="0"/>
              <a:t>Can dynamically reroute traffic in the event of node or link failures.</a:t>
            </a:r>
          </a:p>
          <a:p>
            <a:pPr lvl="2"/>
            <a:r>
              <a:rPr lang="en-US" dirty="0"/>
              <a:t>Offers self-healing capabilities to maintain connectivity.</a:t>
            </a:r>
          </a:p>
          <a:p>
            <a:pPr lvl="1"/>
            <a:r>
              <a:rPr lang="en-US" b="1" dirty="0"/>
              <a:t>Redundancy:</a:t>
            </a:r>
          </a:p>
          <a:p>
            <a:pPr lvl="2"/>
            <a:r>
              <a:rPr lang="en-US" dirty="0"/>
              <a:t>Redundant paths between nodes enhance reliability.</a:t>
            </a:r>
          </a:p>
          <a:p>
            <a:pPr lvl="2"/>
            <a:r>
              <a:rPr lang="en-US" dirty="0"/>
              <a:t>Multiple communication routes reduce the impact of node or link failures.</a:t>
            </a:r>
          </a:p>
          <a:p>
            <a:pPr lvl="1"/>
            <a:r>
              <a:rPr lang="en-IN" b="1" dirty="0"/>
              <a:t>Scalability Challenges:</a:t>
            </a:r>
          </a:p>
          <a:p>
            <a:pPr lvl="2"/>
            <a:r>
              <a:rPr lang="en-US" dirty="0"/>
              <a:t>May become complex and difficult to manage as the number of nodes increases.</a:t>
            </a:r>
          </a:p>
          <a:p>
            <a:pPr lvl="2"/>
            <a:r>
              <a:rPr lang="en-US" dirty="0"/>
              <a:t>Routing algorithms must handle a potentially large number of connections.</a:t>
            </a:r>
          </a:p>
          <a:p>
            <a:pPr lvl="1"/>
            <a:r>
              <a:rPr lang="en-US" b="1" dirty="0"/>
              <a:t>Increased Hardware Cost:</a:t>
            </a:r>
          </a:p>
          <a:p>
            <a:pPr lvl="2"/>
            <a:r>
              <a:rPr lang="en-US" dirty="0"/>
              <a:t>Requires more hardware for interconnecting nodes.</a:t>
            </a:r>
          </a:p>
          <a:p>
            <a:pPr lvl="2"/>
            <a:r>
              <a:rPr lang="en-US" dirty="0"/>
              <a:t>Can lead to higher implementation costs.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77861-F3B3-25D4-51BA-A66F9A71D8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43" t="1" r="-423" b="48446"/>
          <a:stretch/>
        </p:blipFill>
        <p:spPr>
          <a:xfrm>
            <a:off x="9724102" y="951117"/>
            <a:ext cx="1917291" cy="20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196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5DAAE-3F31-9C3F-C4F8-545855DC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7243-557E-D795-6606-C9061B5A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Sensor Network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28935-F3DF-8913-A362-D0A567DFE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Ring Topology:</a:t>
            </a:r>
          </a:p>
          <a:p>
            <a:pPr lvl="1"/>
            <a:r>
              <a:rPr lang="en-IN" b="1" dirty="0"/>
              <a:t>Simplicity:</a:t>
            </a:r>
          </a:p>
          <a:p>
            <a:pPr lvl="2"/>
            <a:r>
              <a:rPr lang="en-US" dirty="0"/>
              <a:t>Simple and straightforward to implement.</a:t>
            </a:r>
          </a:p>
          <a:p>
            <a:pPr lvl="2"/>
            <a:r>
              <a:rPr lang="en-US" dirty="0"/>
              <a:t>Data travels in a predictable direction.</a:t>
            </a:r>
          </a:p>
          <a:p>
            <a:pPr lvl="1"/>
            <a:r>
              <a:rPr lang="en-US" b="1" dirty="0"/>
              <a:t>Predictive Latency:</a:t>
            </a:r>
          </a:p>
          <a:p>
            <a:pPr lvl="2"/>
            <a:r>
              <a:rPr lang="en-US" dirty="0"/>
              <a:t>Predictable latency for data transmission in a circular fashion.</a:t>
            </a:r>
          </a:p>
          <a:p>
            <a:pPr lvl="2"/>
            <a:r>
              <a:rPr lang="en-US" dirty="0"/>
              <a:t>Suitable for applications with consistent timing requirements.</a:t>
            </a:r>
          </a:p>
          <a:p>
            <a:pPr lvl="1"/>
            <a:r>
              <a:rPr lang="en-US" b="1" dirty="0"/>
              <a:t>Single Failure Impact:</a:t>
            </a:r>
          </a:p>
          <a:p>
            <a:pPr lvl="2"/>
            <a:r>
              <a:rPr lang="en-US" dirty="0"/>
              <a:t>A break in the ring disrupts communication for the entire network.</a:t>
            </a:r>
          </a:p>
          <a:p>
            <a:pPr lvl="2"/>
            <a:r>
              <a:rPr lang="en-US" dirty="0"/>
              <a:t>The failure affects all nodes between the break and the endpoints.</a:t>
            </a:r>
          </a:p>
          <a:p>
            <a:pPr lvl="1"/>
            <a:r>
              <a:rPr lang="en-US" b="1" dirty="0"/>
              <a:t>Limited Scalability:</a:t>
            </a:r>
          </a:p>
          <a:p>
            <a:pPr lvl="2"/>
            <a:r>
              <a:rPr lang="en-US" dirty="0"/>
              <a:t>Scaling the network may become challenging, especially with an increasing number of nodes.</a:t>
            </a:r>
            <a:endParaRPr lang="en-IN" dirty="0"/>
          </a:p>
        </p:txBody>
      </p:sp>
      <p:pic>
        <p:nvPicPr>
          <p:cNvPr id="5122" name="Picture 2" descr="Network Topology Diagrams and Selection Best Practices for 2022">
            <a:extLst>
              <a:ext uri="{FF2B5EF4-FFF2-40B4-BE49-F238E27FC236}">
                <a16:creationId xmlns:a16="http://schemas.microsoft.com/office/drawing/2014/main" id="{338CD2B4-8EA2-6930-ECAE-11484E4FF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0"/>
          <a:stretch/>
        </p:blipFill>
        <p:spPr bwMode="auto">
          <a:xfrm>
            <a:off x="9348796" y="1020098"/>
            <a:ext cx="2712927" cy="192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2CFE4E9-AA15-035A-1DAD-B50CEE8B23FA}"/>
              </a:ext>
            </a:extLst>
          </p:cNvPr>
          <p:cNvSpPr txBox="1">
            <a:spLocks/>
          </p:cNvSpPr>
          <p:nvPr/>
        </p:nvSpPr>
        <p:spPr>
          <a:xfrm>
            <a:off x="127820" y="166022"/>
            <a:ext cx="11933904" cy="1001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5">
                    <a:lumMod val="50000"/>
                  </a:schemeClr>
                </a:solidFill>
                <a:latin typeface="Artifika" pitchFamily="2" charset="0"/>
                <a:ea typeface="+mj-ea"/>
                <a:cs typeface="+mj-cs"/>
              </a:defRPr>
            </a:lvl1pPr>
          </a:lstStyle>
          <a:p>
            <a:r>
              <a:rPr lang="en-IN"/>
              <a:t>IoT Sensor Network Topologies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8932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F15D-C613-8A38-9E60-D995D967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A55D-AE88-D128-A9C2-8A223C3B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Sensor Network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A6BD6-D5EB-368D-1098-DEC314C2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Tree Topology:</a:t>
            </a:r>
          </a:p>
          <a:p>
            <a:pPr lvl="1"/>
            <a:r>
              <a:rPr lang="en-IN" b="1" dirty="0"/>
              <a:t>Hierarchical Structure:</a:t>
            </a:r>
          </a:p>
          <a:p>
            <a:pPr lvl="2"/>
            <a:r>
              <a:rPr lang="en-US" dirty="0"/>
              <a:t>Organized in a hierarchical tree-like structure with a root node.</a:t>
            </a:r>
          </a:p>
          <a:p>
            <a:pPr lvl="2"/>
            <a:r>
              <a:rPr lang="en-US" dirty="0"/>
              <a:t>Efficient for applications requiring centralized control.</a:t>
            </a:r>
          </a:p>
          <a:p>
            <a:pPr lvl="1"/>
            <a:r>
              <a:rPr lang="en-US" b="1" dirty="0"/>
              <a:t>Efficient Data Routing:</a:t>
            </a:r>
          </a:p>
          <a:p>
            <a:pPr lvl="2"/>
            <a:r>
              <a:rPr lang="en-US" dirty="0"/>
              <a:t>Data travels along predetermined paths from leaf nodes to the root.</a:t>
            </a:r>
          </a:p>
          <a:p>
            <a:pPr lvl="2"/>
            <a:r>
              <a:rPr lang="en-US" dirty="0"/>
              <a:t>Effective for applications where data needs to be aggregated at a central point.</a:t>
            </a:r>
          </a:p>
          <a:p>
            <a:pPr lvl="1"/>
            <a:r>
              <a:rPr lang="en-US" b="1" dirty="0"/>
              <a:t>Energy Efficiency:</a:t>
            </a:r>
          </a:p>
          <a:p>
            <a:pPr lvl="2"/>
            <a:r>
              <a:rPr lang="en-US" dirty="0"/>
              <a:t>Can be energy-efficient as nodes closer to the leaves may operate on lower power.</a:t>
            </a:r>
          </a:p>
          <a:p>
            <a:pPr lvl="2"/>
            <a:r>
              <a:rPr lang="en-US" dirty="0"/>
              <a:t>Suitable for battery-powered devices.</a:t>
            </a:r>
          </a:p>
          <a:p>
            <a:pPr lvl="1"/>
            <a:r>
              <a:rPr lang="en-US" b="1" dirty="0"/>
              <a:t>Scalability Challenges:</a:t>
            </a:r>
          </a:p>
          <a:p>
            <a:pPr lvl="2"/>
            <a:r>
              <a:rPr lang="en-US" dirty="0"/>
              <a:t>Scalability is limited, especially with a deep hierarchy.</a:t>
            </a:r>
          </a:p>
          <a:p>
            <a:pPr lvl="2"/>
            <a:r>
              <a:rPr lang="en-US" dirty="0"/>
              <a:t>May face challenges with network expansion.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1F386-9058-8056-4307-A705B4C2D9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0" t="55038" r="27167" b="3921"/>
          <a:stretch/>
        </p:blipFill>
        <p:spPr>
          <a:xfrm>
            <a:off x="9704438" y="865239"/>
            <a:ext cx="1995948" cy="162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49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3652</Words>
  <Application>Microsoft Office PowerPoint</Application>
  <PresentationFormat>Widescreen</PresentationFormat>
  <Paragraphs>548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Alice</vt:lpstr>
      <vt:lpstr>Arial</vt:lpstr>
      <vt:lpstr>Artifika</vt:lpstr>
      <vt:lpstr>Calibri</vt:lpstr>
      <vt:lpstr>Calibri Light</vt:lpstr>
      <vt:lpstr>Ephesis</vt:lpstr>
      <vt:lpstr>Office Theme</vt:lpstr>
      <vt:lpstr>IoT Communication Protocols</vt:lpstr>
      <vt:lpstr>Topics to be covered</vt:lpstr>
      <vt:lpstr>Need of protocols in IoT Communication</vt:lpstr>
      <vt:lpstr>Messaging Protocols</vt:lpstr>
      <vt:lpstr>Messaging Protocols: MQTT</vt:lpstr>
      <vt:lpstr>Messaging Protocols: MQTT Working</vt:lpstr>
      <vt:lpstr>Messaging Protocols: MQTT</vt:lpstr>
      <vt:lpstr>Messaging Protocols: MQTT</vt:lpstr>
      <vt:lpstr>Messaging Protocols: MQTT</vt:lpstr>
      <vt:lpstr>Messaging Protocols: MQTT</vt:lpstr>
      <vt:lpstr>Messaging Protocols: MQTT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Messaging Protocols: CoAP</vt:lpstr>
      <vt:lpstr>MQTT v/s CoAP</vt:lpstr>
      <vt:lpstr>Messaging Protocols: XMPP</vt:lpstr>
      <vt:lpstr>Messaging Protocols: XMPP</vt:lpstr>
      <vt:lpstr>Messaging Protocols: XMPP</vt:lpstr>
      <vt:lpstr>Messaging Protocols: XMPP</vt:lpstr>
      <vt:lpstr>Transport Protocols</vt:lpstr>
      <vt:lpstr>Transport Protocols: BLE</vt:lpstr>
      <vt:lpstr>Transport Protocols: BLE</vt:lpstr>
      <vt:lpstr>Transport Protocols: BLE</vt:lpstr>
      <vt:lpstr>Transport Protocols: BLE</vt:lpstr>
      <vt:lpstr>Transport Protocols: BLE</vt:lpstr>
      <vt:lpstr>Transport Protocols: BLE</vt:lpstr>
      <vt:lpstr>Transport Protocols: BLE</vt:lpstr>
      <vt:lpstr>Transport Protocols: BLE</vt:lpstr>
      <vt:lpstr>Transport Protocols: BLE</vt:lpstr>
      <vt:lpstr>Transport Protocols: Li-Fi</vt:lpstr>
      <vt:lpstr>Transport Protocols: Li-Fi</vt:lpstr>
      <vt:lpstr>Transport Protocols: Li-Fi</vt:lpstr>
      <vt:lpstr>Transport Protocols: Li-Fi</vt:lpstr>
      <vt:lpstr>IoT Sensor Network Topologies</vt:lpstr>
      <vt:lpstr>IoT Sensor Network Topologies</vt:lpstr>
      <vt:lpstr>IoT Sensor Network Topologies</vt:lpstr>
      <vt:lpstr>IoT Sensor Network Topologies</vt:lpstr>
      <vt:lpstr>IoT Sensor Network Topologies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Niraj Trivedi</dc:creator>
  <cp:lastModifiedBy>Niraj Trivedi</cp:lastModifiedBy>
  <cp:revision>62</cp:revision>
  <dcterms:created xsi:type="dcterms:W3CDTF">2024-01-07T02:26:56Z</dcterms:created>
  <dcterms:modified xsi:type="dcterms:W3CDTF">2024-02-03T11:35:06Z</dcterms:modified>
</cp:coreProperties>
</file>