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A46"/>
    <a:srgbClr val="D1F1D9"/>
    <a:srgbClr val="AEC9E5"/>
    <a:srgbClr val="5C6968"/>
    <a:srgbClr val="EE9B00"/>
    <a:srgbClr val="52B788"/>
    <a:srgbClr val="E9D8A6"/>
    <a:srgbClr val="03070C"/>
    <a:srgbClr val="3B0416"/>
    <a:srgbClr val="74C6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0FCE-54B8-345E-074B-9E03B2CE4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8983" y="1122363"/>
            <a:ext cx="7064256" cy="2387600"/>
          </a:xfrm>
        </p:spPr>
        <p:txBody>
          <a:bodyPr anchor="b"/>
          <a:lstStyle>
            <a:lvl1pPr algn="r">
              <a:defRPr sz="6000">
                <a:solidFill>
                  <a:srgbClr val="03070C"/>
                </a:solidFill>
                <a:latin typeface="Ephesis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A27F8-2221-D5B7-C33E-A9A1BA035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4489" y="3602038"/>
            <a:ext cx="5348749" cy="107811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03070C"/>
                </a:solidFill>
                <a:latin typeface="Alice" pitchFamily="2" charset="0"/>
                <a:ea typeface="Alice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A07AE-1564-228B-7ECD-5EC413A0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967" y="6492875"/>
            <a:ext cx="1152943" cy="365125"/>
          </a:xfrm>
        </p:spPr>
        <p:txBody>
          <a:bodyPr/>
          <a:lstStyle>
            <a:lvl1pPr algn="r">
              <a:defRPr>
                <a:solidFill>
                  <a:srgbClr val="03070C"/>
                </a:solidFill>
                <a:latin typeface="Alice" pitchFamily="2" charset="0"/>
                <a:ea typeface="Alice" pitchFamily="2" charset="0"/>
              </a:defRPr>
            </a:lvl1pPr>
          </a:lstStyle>
          <a:p>
            <a:r>
              <a:rPr lang="en-IN"/>
              <a:t>N. R. TRIVEDI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5BE45C-7920-3938-EDC1-F4749C715E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1327200"/>
            <a:ext cx="4019566" cy="401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5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7DBD-B161-F6E8-50E7-00019E03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136525"/>
            <a:ext cx="11933904" cy="1001559"/>
          </a:xfrm>
        </p:spPr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  <a:latin typeface="Artifika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F7862-8D1C-89F0-6A34-BD90DCCED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6" y="1253331"/>
            <a:ext cx="11933903" cy="5265456"/>
          </a:xfrm>
        </p:spPr>
        <p:txBody>
          <a:bodyPr/>
          <a:lstStyle>
            <a:lvl1pPr marL="354013" indent="-354013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1pPr>
            <a:lvl2pPr marL="719138" indent="-261938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2pPr>
            <a:lvl3pPr marL="1143000" indent="-228600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3pPr>
            <a:lvl4pPr marL="1600200" indent="-228600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4pPr>
            <a:lvl5pPr marL="2057400" indent="-228600" algn="just">
              <a:buFontTx/>
              <a:buBlip>
                <a:blip r:embed="rId2"/>
              </a:buBlip>
              <a:defRPr>
                <a:solidFill>
                  <a:srgbClr val="112A46"/>
                </a:solidFill>
                <a:latin typeface="Alice" pitchFamily="2" charset="0"/>
                <a:ea typeface="Alice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61B4E4-E61C-9367-BA79-54700BCA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967" y="6492875"/>
            <a:ext cx="1152943" cy="365125"/>
          </a:xfrm>
        </p:spPr>
        <p:txBody>
          <a:bodyPr/>
          <a:lstStyle>
            <a:lvl1pPr algn="r">
              <a:defRPr>
                <a:solidFill>
                  <a:schemeClr val="accent5">
                    <a:lumMod val="75000"/>
                  </a:schemeClr>
                </a:solidFill>
                <a:latin typeface="Alice" pitchFamily="2" charset="0"/>
                <a:ea typeface="Alice" pitchFamily="2" charset="0"/>
              </a:defRPr>
            </a:lvl1pPr>
          </a:lstStyle>
          <a:p>
            <a:r>
              <a:rPr lang="en-IN" dirty="0"/>
              <a:t>N. R. TRIVEDI</a:t>
            </a:r>
          </a:p>
        </p:txBody>
      </p:sp>
    </p:spTree>
    <p:extLst>
      <p:ext uri="{BB962C8B-B14F-4D97-AF65-F5344CB8AC3E}">
        <p14:creationId xmlns:p14="http://schemas.microsoft.com/office/powerpoint/2010/main" val="103590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C03E4-0CD5-232D-EF29-AA01A9F3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D83B8-4FC8-FE0E-1341-C2A3F9FC3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D471C-3BF0-5850-ACBD-4DCAB5DA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F2F9D-B008-88FC-0454-B5ED0AF0A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5272A-B9DE-E34F-B97D-EE77E039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2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5B0B-4239-5C9C-DF5D-B9122A67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949E7-8F15-0A33-8526-E83CD7462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835F6-FA01-E1FA-925A-EA7EE52E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3579E-25B9-BF01-43E5-5DCFB86C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088C2-3B49-F277-C52B-88B8D686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6BCF7-3AA0-D4CB-8CB6-CDA61FBD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22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47F6-AF8B-F107-5340-2B81910A4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FD464-B6BF-ED0B-76AB-C714B9754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BD47B-6FE1-02E7-62D3-206948209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33B4A-DE41-5B90-0FD4-04B2CEDCF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15E2E3-393C-D713-85D3-A3DA0C376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0FDA4-2EF6-4E4B-A472-273B7011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DF656-31BC-9537-A928-A42DF951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F568F2-FD4D-B16C-EC28-0E9435DA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1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FFC4-ACCB-66FE-34B2-246F235E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0E26D-6C5E-1A22-0F7A-4E48B3D4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F2587-125F-A31C-B98B-746C67E2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98E57-46B8-B34C-4DE1-6C175C64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373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C3B1C-C625-57BC-B0E1-8FFA24E3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9B734-213A-AE04-2E0A-058E19CC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414A3-2770-45C1-61C7-DB3EA95C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93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1356-C8C0-9007-C740-C2A3AD55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D83DE-2A0B-320D-D1BB-EACEE9670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FB464-7228-6CCD-F681-B8EF3352B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28CB0-ECFD-BE12-C4BB-2633C5D1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EF590-929D-E78D-7658-85D496EF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415A1-DCD4-F013-D3DC-F5DB0E1C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0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552C-7190-CBAA-B001-F6169260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0893F2-848F-0F0C-512D-228374C68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F2C21-E661-FC50-88CF-D70A0A15B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02C3A-1145-8C37-0F04-CD9EE39C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AA62C-C549-8906-D915-74A95812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82ADB-4916-F99B-D37F-0A97B97C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77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34A7-E420-FF90-2B75-32BB6AC6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79F63-1348-B0CF-9591-E742061F0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D9D4A-578B-2975-117E-48502BE7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7482D-60F1-FEE1-9459-467D19CB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A18E6-AE68-3168-5A8B-4822DA9B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6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6E0BA-C00D-3037-269F-EEA3C2DE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82116-1C8B-9D9B-61BD-34FCE9678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75539-D2B8-84B5-0D96-B70F5B024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EE258-CBD0-26B6-AB6B-59D44FF8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3DFD1-B014-C470-F12E-84D24F3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02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9D8A6"/>
            </a:gs>
            <a:gs pos="100000">
              <a:srgbClr val="52B788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A424A1-6728-A644-52E8-3CBC69DF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6F7E7-FB3E-D7CD-63E8-DD3558D21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A912-646E-3911-7901-71E37013C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8606D-1217-49B8-A81D-F5DD708C7973}" type="datetimeFigureOut">
              <a:rPr lang="en-IN" smtClean="0"/>
              <a:t>09/01/2024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604A0-25BF-DF40-572B-78DD84FE7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1A4F9-2566-A80C-D118-DAE00B44F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78150-4EDB-4267-B597-2359D4AF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51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0D1B-967D-79D3-9DE1-95914CF5A4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Fundamentals of IoT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28A18-B0D7-8A67-784F-3B5697FB38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Code: 4360703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F9B5986-1F88-EC0D-6F4E-797238B81C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" t="-691" r="322" b="-56"/>
          <a:stretch/>
        </p:blipFill>
        <p:spPr bwMode="auto">
          <a:xfrm>
            <a:off x="11278163" y="89452"/>
            <a:ext cx="787940" cy="805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718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3A7C-A723-2CBB-3632-28F5A6C10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Teaching Scheme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01A9A4ED-FE78-8DBF-64AE-1703E241DC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076045"/>
              </p:ext>
            </p:extLst>
          </p:nvPr>
        </p:nvGraphicFramePr>
        <p:xfrm>
          <a:off x="130175" y="1252538"/>
          <a:ext cx="11933905" cy="13716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386781">
                  <a:extLst>
                    <a:ext uri="{9D8B030D-6E8A-4147-A177-3AD203B41FA5}">
                      <a16:colId xmlns:a16="http://schemas.microsoft.com/office/drawing/2014/main" val="983532709"/>
                    </a:ext>
                  </a:extLst>
                </a:gridCol>
                <a:gridCol w="2386781">
                  <a:extLst>
                    <a:ext uri="{9D8B030D-6E8A-4147-A177-3AD203B41FA5}">
                      <a16:colId xmlns:a16="http://schemas.microsoft.com/office/drawing/2014/main" val="2905024495"/>
                    </a:ext>
                  </a:extLst>
                </a:gridCol>
                <a:gridCol w="2386781">
                  <a:extLst>
                    <a:ext uri="{9D8B030D-6E8A-4147-A177-3AD203B41FA5}">
                      <a16:colId xmlns:a16="http://schemas.microsoft.com/office/drawing/2014/main" val="1641963356"/>
                    </a:ext>
                  </a:extLst>
                </a:gridCol>
                <a:gridCol w="2386781">
                  <a:extLst>
                    <a:ext uri="{9D8B030D-6E8A-4147-A177-3AD203B41FA5}">
                      <a16:colId xmlns:a16="http://schemas.microsoft.com/office/drawing/2014/main" val="3945590252"/>
                    </a:ext>
                  </a:extLst>
                </a:gridCol>
                <a:gridCol w="2386781">
                  <a:extLst>
                    <a:ext uri="{9D8B030D-6E8A-4147-A177-3AD203B41FA5}">
                      <a16:colId xmlns:a16="http://schemas.microsoft.com/office/drawing/2014/main" val="164388732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D1F1D9"/>
                          </a:solidFill>
                          <a:latin typeface="Alice" pitchFamily="2" charset="0"/>
                          <a:ea typeface="Alice" pitchFamily="2" charset="0"/>
                        </a:rPr>
                        <a:t>Theory Marks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D1F1D9"/>
                          </a:solidFill>
                          <a:latin typeface="Alice" pitchFamily="2" charset="0"/>
                          <a:ea typeface="Alice" pitchFamily="2" charset="0"/>
                        </a:rPr>
                        <a:t>Practical Marks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rgbClr val="D1F1D9"/>
                          </a:solidFill>
                          <a:latin typeface="Alice" pitchFamily="2" charset="0"/>
                          <a:ea typeface="Alice" pitchFamily="2" charset="0"/>
                        </a:rPr>
                        <a:t>Total 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79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03070C"/>
                          </a:solidFill>
                          <a:latin typeface="Alice" pitchFamily="2" charset="0"/>
                          <a:ea typeface="Alice" pitchFamily="2" charset="0"/>
                        </a:rPr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03070C"/>
                          </a:solidFill>
                          <a:latin typeface="Alice" pitchFamily="2" charset="0"/>
                          <a:ea typeface="Alice" pitchFamily="2" charset="0"/>
                        </a:rPr>
                        <a:t>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03070C"/>
                          </a:solidFill>
                          <a:latin typeface="Alice" pitchFamily="2" charset="0"/>
                          <a:ea typeface="Alice" pitchFamily="2" charset="0"/>
                        </a:rPr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03070C"/>
                          </a:solidFill>
                          <a:latin typeface="Alice" pitchFamily="2" charset="0"/>
                          <a:ea typeface="Alice" pitchFamily="2" charset="0"/>
                        </a:rPr>
                        <a:t>ESE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4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25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03070C"/>
                          </a:solidFill>
                          <a:latin typeface="Alice" pitchFamily="2" charset="0"/>
                          <a:ea typeface="Alice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03070C"/>
                          </a:solidFill>
                          <a:latin typeface="Alice" pitchFamily="2" charset="0"/>
                          <a:ea typeface="Alice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03070C"/>
                          </a:solidFill>
                          <a:latin typeface="Alice" pitchFamily="2" charset="0"/>
                          <a:ea typeface="Alice" pitchFamily="2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03070C"/>
                          </a:solidFill>
                          <a:latin typeface="Alice" pitchFamily="2" charset="0"/>
                          <a:ea typeface="Alice" pitchFamily="2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03070C"/>
                          </a:solidFill>
                          <a:latin typeface="Alice" pitchFamily="2" charset="0"/>
                          <a:ea typeface="Alice" pitchFamily="2" charset="0"/>
                        </a:rPr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46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76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BC50-EEA3-815D-FDFA-846BCE54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Course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D3CE8-9FFF-4156-B2F5-8881C82E5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the basic concept of IoT</a:t>
            </a:r>
          </a:p>
          <a:p>
            <a:r>
              <a:rPr lang="en-US" dirty="0"/>
              <a:t>Apply different Sensors and Actuators in IoT Application as required</a:t>
            </a:r>
          </a:p>
          <a:p>
            <a:r>
              <a:rPr lang="en-US" dirty="0"/>
              <a:t>Develop sketch for the IoT application using the Arduino Uno board.</a:t>
            </a:r>
          </a:p>
          <a:p>
            <a:r>
              <a:rPr lang="en-US" dirty="0"/>
              <a:t>Explain Messaging and Transport protocols for IoT communication used in the IoT Applications</a:t>
            </a:r>
          </a:p>
          <a:p>
            <a:r>
              <a:rPr lang="en-US" dirty="0"/>
              <a:t>Illustrate the working of real world IoT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01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7661-9523-DD2E-4F76-B638197CF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 to IoT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2423E-5C4E-B6F0-DA92-BEB0D68A2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- I</a:t>
            </a:r>
          </a:p>
        </p:txBody>
      </p:sp>
    </p:spTree>
    <p:extLst>
      <p:ext uri="{BB962C8B-B14F-4D97-AF65-F5344CB8AC3E}">
        <p14:creationId xmlns:p14="http://schemas.microsoft.com/office/powerpoint/2010/main" val="194136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A0DE-F084-3010-D590-831A6FF77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Topics to be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2D5A4-9D14-95E5-48C4-9868B2A35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IoT</a:t>
            </a:r>
            <a:r>
              <a:rPr lang="en-IN"/>
              <a:t>, What???</a:t>
            </a:r>
            <a:endParaRPr lang="en-IN" dirty="0"/>
          </a:p>
          <a:p>
            <a:r>
              <a:rPr lang="en-IN" dirty="0"/>
              <a:t>IoT Characteristics</a:t>
            </a:r>
          </a:p>
          <a:p>
            <a:r>
              <a:rPr lang="en-IN" dirty="0"/>
              <a:t>Key Components of IoT System</a:t>
            </a:r>
          </a:p>
          <a:p>
            <a:r>
              <a:rPr lang="en-IN" dirty="0"/>
              <a:t>Architecture of IoT</a:t>
            </a:r>
          </a:p>
          <a:p>
            <a:r>
              <a:rPr lang="en-IN" dirty="0"/>
              <a:t>Challenges</a:t>
            </a:r>
          </a:p>
          <a:p>
            <a:pPr lvl="1"/>
            <a:r>
              <a:rPr lang="en-IN" dirty="0"/>
              <a:t>Design Challenges</a:t>
            </a:r>
          </a:p>
          <a:p>
            <a:pPr lvl="1"/>
            <a:r>
              <a:rPr lang="en-IN" dirty="0"/>
              <a:t>Security Challenges</a:t>
            </a:r>
          </a:p>
        </p:txBody>
      </p:sp>
    </p:spTree>
    <p:extLst>
      <p:ext uri="{BB962C8B-B14F-4D97-AF65-F5344CB8AC3E}">
        <p14:creationId xmlns:p14="http://schemas.microsoft.com/office/powerpoint/2010/main" val="59803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FD95-44AF-0522-B592-29C62F87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(Internet of Things), What???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EBD9-2E7A-0220-B830-7A200F3F6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Let’s start by Understanding Individual words.</a:t>
            </a:r>
          </a:p>
          <a:p>
            <a:r>
              <a:rPr lang="en-IN" dirty="0"/>
              <a:t>Internet, Things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FCD00-1B15-B1FC-4037-A2CAA3ED4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08" y="1835464"/>
            <a:ext cx="7980784" cy="494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38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04BE7-D23D-180B-A631-306B4F848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(Internet of Things), What???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E2E6-5F32-1057-6F1C-4DEA6A62B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1253331"/>
            <a:ext cx="6917800" cy="5265456"/>
          </a:xfrm>
        </p:spPr>
        <p:txBody>
          <a:bodyPr/>
          <a:lstStyle/>
          <a:p>
            <a:r>
              <a:rPr lang="en-IN" dirty="0"/>
              <a:t>Okay, so we all have heard and also all are very familiar with the word </a:t>
            </a:r>
            <a:r>
              <a:rPr lang="en-IN" dirty="0">
                <a:solidFill>
                  <a:srgbClr val="C00000"/>
                </a:solidFill>
              </a:rPr>
              <a:t>“Internet”</a:t>
            </a:r>
          </a:p>
          <a:p>
            <a:r>
              <a:rPr lang="en-IN" dirty="0"/>
              <a:t>It’s a network of interconnected Networks.</a:t>
            </a:r>
          </a:p>
          <a:p>
            <a:r>
              <a:rPr lang="en-IN" dirty="0"/>
              <a:t>May be wired, may be wireless.</a:t>
            </a:r>
          </a:p>
          <a:p>
            <a:r>
              <a:rPr lang="en-IN" dirty="0"/>
              <a:t>The main purpose is to transfer information between 2 similar or different type of devices.</a:t>
            </a:r>
          </a:p>
          <a:p>
            <a:r>
              <a:rPr lang="en-IN" dirty="0"/>
              <a:t>Mostly the devices which are capable of computing (i.e. Mobile, laptops, desktops, servers etc.)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1F016-8EC3-29A9-E973-2D0DA9705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076" y="1253331"/>
            <a:ext cx="5013648" cy="501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41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0464-F97E-EAE4-D2E7-65E91882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(Internet of Things), What???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B9F4A-DAB6-20F7-415C-F1BA0E7E6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1253331"/>
            <a:ext cx="7492834" cy="5265456"/>
          </a:xfrm>
        </p:spPr>
        <p:txBody>
          <a:bodyPr/>
          <a:lstStyle/>
          <a:p>
            <a:r>
              <a:rPr lang="en-IN" dirty="0"/>
              <a:t>Extending that term to Internet of Things, one can define it in many ways but basically we can define IoT as, the </a:t>
            </a:r>
            <a:r>
              <a:rPr lang="en-IN" dirty="0">
                <a:solidFill>
                  <a:srgbClr val="C00000"/>
                </a:solidFill>
              </a:rPr>
              <a:t>network of interconnected computing devices</a:t>
            </a:r>
            <a:r>
              <a:rPr lang="en-IN" dirty="0"/>
              <a:t> (Internet) which are </a:t>
            </a:r>
            <a:r>
              <a:rPr lang="en-IN" dirty="0">
                <a:solidFill>
                  <a:srgbClr val="C00000"/>
                </a:solidFill>
              </a:rPr>
              <a:t>embedded in everyday objects </a:t>
            </a:r>
            <a:r>
              <a:rPr lang="en-IN" dirty="0"/>
              <a:t>(Things).</a:t>
            </a:r>
          </a:p>
          <a:p>
            <a:r>
              <a:rPr lang="en-US" dirty="0"/>
              <a:t> The primary goal of the Internet of Things is to enable these devices to </a:t>
            </a:r>
            <a:r>
              <a:rPr lang="en-US" dirty="0">
                <a:solidFill>
                  <a:srgbClr val="C00000"/>
                </a:solidFill>
              </a:rPr>
              <a:t>communicate with each other and with central systems to make informed decisions </a:t>
            </a:r>
            <a:r>
              <a:rPr lang="en-US" dirty="0"/>
              <a:t>and automate processes.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02EF1-0D36-7F2B-BC5C-4B414206E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111" y="457059"/>
            <a:ext cx="4984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08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E2CB-3074-C6C4-97F3-AD630E63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(Internet of Things), What???</a:t>
            </a:r>
          </a:p>
        </p:txBody>
      </p:sp>
      <p:pic>
        <p:nvPicPr>
          <p:cNvPr id="1026" name="Picture 2" descr="IoT application areas.">
            <a:extLst>
              <a:ext uri="{FF2B5EF4-FFF2-40B4-BE49-F238E27FC236}">
                <a16:creationId xmlns:a16="http://schemas.microsoft.com/office/drawing/2014/main" id="{3BB6614E-7F0A-89CC-DCE8-D331B71182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25" y="1248714"/>
            <a:ext cx="11858138" cy="527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33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8A56-6831-78F5-6031-75A989C5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9B843-C879-6A9D-67FC-BE831125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Connectivity:</a:t>
            </a:r>
            <a:r>
              <a:rPr lang="en-US" dirty="0"/>
              <a:t> IoT devices are linked through diverse communication technologies for seamless data exchange.</a:t>
            </a:r>
          </a:p>
          <a:p>
            <a:r>
              <a:rPr lang="en-US" b="1" dirty="0">
                <a:solidFill>
                  <a:srgbClr val="C00000"/>
                </a:solidFill>
              </a:rPr>
              <a:t>Intelligence and Identity: </a:t>
            </a:r>
            <a:r>
              <a:rPr lang="en-US" dirty="0"/>
              <a:t>Each connected things needs to have its unique identity so the collected data can be processed accordingly.</a:t>
            </a:r>
          </a:p>
          <a:p>
            <a:r>
              <a:rPr lang="en-US" b="1" dirty="0">
                <a:solidFill>
                  <a:srgbClr val="C00000"/>
                </a:solidFill>
              </a:rPr>
              <a:t>Data Collection and Processing with intelligence: </a:t>
            </a:r>
            <a:r>
              <a:rPr lang="en-US" dirty="0"/>
              <a:t>Devices gather and process data locally or transmit it for centralized analysis.</a:t>
            </a:r>
          </a:p>
          <a:p>
            <a:r>
              <a:rPr lang="en-US" b="1" dirty="0">
                <a:solidFill>
                  <a:srgbClr val="C00000"/>
                </a:solidFill>
              </a:rPr>
              <a:t>Data Integration and Analytics: </a:t>
            </a:r>
            <a:r>
              <a:rPr lang="en-US" dirty="0"/>
              <a:t>IoT data is integrated into analytics platforms to derive meaningful insights and optimize processes.</a:t>
            </a:r>
          </a:p>
          <a:p>
            <a:r>
              <a:rPr lang="en-US" b="1" dirty="0">
                <a:solidFill>
                  <a:srgbClr val="C00000"/>
                </a:solidFill>
              </a:rPr>
              <a:t>Interoperability:</a:t>
            </a:r>
            <a:r>
              <a:rPr lang="en-US" b="1" dirty="0"/>
              <a:t> </a:t>
            </a:r>
            <a:r>
              <a:rPr lang="en-US" dirty="0"/>
              <a:t>Standardized protocols ensure devices from different manufacturers work together.</a:t>
            </a:r>
          </a:p>
          <a:p>
            <a:r>
              <a:rPr lang="en-US" b="1" dirty="0">
                <a:solidFill>
                  <a:srgbClr val="C00000"/>
                </a:solidFill>
              </a:rPr>
              <a:t>Architecture: </a:t>
            </a:r>
            <a:r>
              <a:rPr lang="en-US" dirty="0"/>
              <a:t>There’s no homogeneous architecture but just a set of suggested layers as it is broad in nature and it is not owned by anyone</a:t>
            </a:r>
          </a:p>
        </p:txBody>
      </p:sp>
    </p:spTree>
    <p:extLst>
      <p:ext uri="{BB962C8B-B14F-4D97-AF65-F5344CB8AC3E}">
        <p14:creationId xmlns:p14="http://schemas.microsoft.com/office/powerpoint/2010/main" val="1583679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8A56-6831-78F5-6031-75A989C5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9B843-C879-6A9D-67FC-BE831125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Scalability (Horizontal and Vertical):</a:t>
            </a:r>
            <a:r>
              <a:rPr lang="en-US" b="1" dirty="0"/>
              <a:t> </a:t>
            </a:r>
            <a:r>
              <a:rPr lang="en-US" dirty="0"/>
              <a:t>IoT systems are designed to handle a growing number of connected devices efficiently as well as increasing processing power or storage.</a:t>
            </a:r>
          </a:p>
          <a:p>
            <a:r>
              <a:rPr lang="en-US" b="1" dirty="0">
                <a:solidFill>
                  <a:srgbClr val="C00000"/>
                </a:solidFill>
              </a:rPr>
              <a:t>Dynamicity and Self-adapting(Complexity): </a:t>
            </a:r>
            <a:r>
              <a:rPr lang="en-US" dirty="0"/>
              <a:t>IoT devices should dynamically adapt themselves to the changing surroundings.</a:t>
            </a:r>
          </a:p>
          <a:p>
            <a:r>
              <a:rPr lang="en-US" b="1" dirty="0">
                <a:solidFill>
                  <a:srgbClr val="C00000"/>
                </a:solidFill>
              </a:rPr>
              <a:t>Remote Monitoring and Management: </a:t>
            </a:r>
            <a:r>
              <a:rPr lang="en-US" dirty="0"/>
              <a:t>Devices can be monitored and managed remotely for maintenance and updates.</a:t>
            </a:r>
          </a:p>
          <a:p>
            <a:r>
              <a:rPr lang="en-US" b="1" dirty="0">
                <a:solidFill>
                  <a:srgbClr val="C00000"/>
                </a:solidFill>
              </a:rPr>
              <a:t>Real-time Operation: </a:t>
            </a:r>
            <a:r>
              <a:rPr lang="en-US" dirty="0"/>
              <a:t>Many IoT applications require real-time or near-real-time processing for quick decision-making.</a:t>
            </a:r>
          </a:p>
          <a:p>
            <a:r>
              <a:rPr lang="en-US" b="1" dirty="0">
                <a:solidFill>
                  <a:srgbClr val="C00000"/>
                </a:solidFill>
              </a:rPr>
              <a:t>Energy Efficiency:</a:t>
            </a:r>
            <a:r>
              <a:rPr lang="en-US" b="1" dirty="0"/>
              <a:t> </a:t>
            </a:r>
            <a:r>
              <a:rPr lang="en-US" dirty="0"/>
              <a:t>Devices often operate on limited energy, emphasizing the importance of energy-efficient designs.</a:t>
            </a:r>
          </a:p>
          <a:p>
            <a:r>
              <a:rPr lang="en-US" b="1" dirty="0">
                <a:solidFill>
                  <a:srgbClr val="C00000"/>
                </a:solidFill>
              </a:rPr>
              <a:t>Security and Privacy: </a:t>
            </a:r>
            <a:r>
              <a:rPr lang="en-US" dirty="0"/>
              <a:t>Robust measures like encryption, authentication, and access controls safeguard IoT systems and address privacy concerns.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3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60F8-5D44-3FA6-2D25-DEF0897B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Applications</a:t>
            </a:r>
          </a:p>
        </p:txBody>
      </p:sp>
      <p:pic>
        <p:nvPicPr>
          <p:cNvPr id="2050" name="Picture 2" descr="Iot 04 00017 g001">
            <a:extLst>
              <a:ext uri="{FF2B5EF4-FFF2-40B4-BE49-F238E27FC236}">
                <a16:creationId xmlns:a16="http://schemas.microsoft.com/office/drawing/2014/main" id="{29F82F25-3E90-E335-A0E1-62D3BA443B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15" y="1007705"/>
            <a:ext cx="11076958" cy="581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9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E9C8-2F00-FA41-200F-733CF61D4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513B-2A03-15F4-DD01-41F8CCE75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Smart Homes: </a:t>
            </a:r>
            <a:r>
              <a:rPr lang="en-US" sz="2400" dirty="0"/>
              <a:t>IoT devices like smart thermostats, lights, security cameras, and voice-activated assistants enhance home automation, security, and energy efficiency.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Industrial IoT (</a:t>
            </a:r>
            <a:r>
              <a:rPr lang="en-US" sz="2400" b="1" dirty="0" err="1">
                <a:solidFill>
                  <a:srgbClr val="C00000"/>
                </a:solidFill>
              </a:rPr>
              <a:t>IIoT</a:t>
            </a:r>
            <a:r>
              <a:rPr lang="en-US" sz="2400" b="1" dirty="0">
                <a:solidFill>
                  <a:srgbClr val="C00000"/>
                </a:solidFill>
              </a:rPr>
              <a:t>): </a:t>
            </a:r>
            <a:r>
              <a:rPr lang="en-US" sz="2400" dirty="0"/>
              <a:t>IoT is widely used in manufacturing for predictive maintenance, real-time monitoring of equipment, supply chain optimization, and overall process efficiency.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Healthcare:</a:t>
            </a:r>
            <a:r>
              <a:rPr lang="en-US" sz="2400" dirty="0"/>
              <a:t> IoT devices, such as wearable fitness trackers, remote patient monitoring systems, and smart medical devices, enable improved healthcare management and personalized treatment.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Smart Cities: </a:t>
            </a:r>
            <a:r>
              <a:rPr lang="en-US" sz="2400" dirty="0"/>
              <a:t>IoT contributes to urban development through applications like smart traffic management, waste management, environmental monitoring, and public safety systems.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Agriculture: </a:t>
            </a:r>
            <a:r>
              <a:rPr lang="en-US" sz="2400" dirty="0"/>
              <a:t>Precision farming utilizes IoT for soil monitoring, crop health management, and automated irrigation, leading to increased efficiency and resource conservation.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Retail: </a:t>
            </a:r>
            <a:r>
              <a:rPr lang="en-US" sz="2400" dirty="0"/>
              <a:t>IoT enhances the retail experience with technologies like RFID tags for inventory management, smart shelves, and personalized shopping experiences through beacons and sensors.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Transportation: </a:t>
            </a:r>
            <a:r>
              <a:rPr lang="en-US" sz="2400" dirty="0"/>
              <a:t>IoT is crucial in smart transportation systems, including connected vehicles, traffic monitoring, fleet management, and logistics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737377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E9C8-2F00-FA41-200F-733CF61D4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513B-2A03-15F4-DD01-41F8CCE75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Energy Management: </a:t>
            </a:r>
            <a:r>
              <a:rPr lang="en-US" dirty="0"/>
              <a:t>Smart grids and IoT-enabled devices help monitor and optimize energy consumption, contributing to efficient energy management and sustainability.</a:t>
            </a:r>
          </a:p>
          <a:p>
            <a:r>
              <a:rPr lang="en-US" b="1" dirty="0">
                <a:solidFill>
                  <a:srgbClr val="C00000"/>
                </a:solidFill>
              </a:rPr>
              <a:t>Environmental Monitoring: </a:t>
            </a:r>
            <a:r>
              <a:rPr lang="en-US" dirty="0"/>
              <a:t>IoT sensors monitor environmental factors such as air and water quality, helping to address pollution and support conservation efforts.</a:t>
            </a:r>
          </a:p>
          <a:p>
            <a:r>
              <a:rPr lang="en-US" b="1" dirty="0">
                <a:solidFill>
                  <a:srgbClr val="C00000"/>
                </a:solidFill>
              </a:rPr>
              <a:t>Supply Chain Management: </a:t>
            </a:r>
            <a:r>
              <a:rPr lang="en-US" dirty="0"/>
              <a:t>IoT provides real-time visibility into the supply chain, enabling better tracking, monitoring, and optimization of goods in transit.</a:t>
            </a:r>
          </a:p>
          <a:p>
            <a:r>
              <a:rPr lang="en-US" b="1" dirty="0">
                <a:solidFill>
                  <a:srgbClr val="C00000"/>
                </a:solidFill>
              </a:rPr>
              <a:t>Building Automation: </a:t>
            </a:r>
            <a:r>
              <a:rPr lang="en-US" dirty="0"/>
              <a:t>IoT systems control and monitor building operations, including lighting, HVAC, security, and access control, for improved energy efficiency and security.</a:t>
            </a:r>
          </a:p>
          <a:p>
            <a:r>
              <a:rPr lang="en-US" b="1" dirty="0">
                <a:solidFill>
                  <a:srgbClr val="C00000"/>
                </a:solidFill>
              </a:rPr>
              <a:t>Wearable Technology: </a:t>
            </a:r>
            <a:r>
              <a:rPr lang="en-US" dirty="0"/>
              <a:t>Fitness trackers, smartwatches, and other wearables utilize IoT for health monitoring, activity tracking, and personalized user experiences.</a:t>
            </a:r>
          </a:p>
          <a:p>
            <a:r>
              <a:rPr lang="en-US" b="1" dirty="0">
                <a:solidFill>
                  <a:srgbClr val="C00000"/>
                </a:solidFill>
              </a:rPr>
              <a:t>Water Management: </a:t>
            </a:r>
            <a:r>
              <a:rPr lang="en-US" dirty="0"/>
              <a:t>IoT devices help monitor and manage water resources through smart irrigation, leak detection, and water quality monitoring.</a:t>
            </a:r>
          </a:p>
          <a:p>
            <a:r>
              <a:rPr lang="en-US" b="1" dirty="0">
                <a:solidFill>
                  <a:srgbClr val="C00000"/>
                </a:solidFill>
              </a:rPr>
              <a:t>Asset Tracking: </a:t>
            </a:r>
            <a:r>
              <a:rPr lang="en-US" dirty="0"/>
              <a:t>Businesses use IoT for real-time tracking and monitoring of assets, whether in logistics, manufacturing, or healthcare.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45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25B8-DE75-5B6E-2996-BC206EB4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Components in IoT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DCD42-3C42-EFC1-2950-BC1332FF3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Devices/Things: </a:t>
            </a:r>
            <a:r>
              <a:rPr lang="en-US" dirty="0"/>
              <a:t>Physical objects or devices embedded with sensors, actuators, and communication capabilities. These devices collect-transmit data to the IoT system.</a:t>
            </a:r>
          </a:p>
          <a:p>
            <a:r>
              <a:rPr lang="en-US" b="1" dirty="0">
                <a:solidFill>
                  <a:srgbClr val="C00000"/>
                </a:solidFill>
              </a:rPr>
              <a:t>IoT Gateways: </a:t>
            </a:r>
            <a:r>
              <a:rPr lang="en-US" dirty="0"/>
              <a:t>Devices that act as intermediaries between IoT devices and the cloud. They aggregate and preprocess data before transmitting it to the central system, improving efficiency and reducing bandwidth usage.</a:t>
            </a:r>
          </a:p>
          <a:p>
            <a:r>
              <a:rPr lang="en-US" b="1" dirty="0">
                <a:solidFill>
                  <a:srgbClr val="C00000"/>
                </a:solidFill>
              </a:rPr>
              <a:t>Middleware: </a:t>
            </a:r>
            <a:r>
              <a:rPr lang="en-US" dirty="0"/>
              <a:t>Software that bridges the gap between devices and applications, facilitating communication, data management, and device control. Middleware ensures interoperability and seamless integration.</a:t>
            </a:r>
          </a:p>
          <a:p>
            <a:r>
              <a:rPr lang="en-US" b="1" dirty="0">
                <a:solidFill>
                  <a:srgbClr val="C00000"/>
                </a:solidFill>
              </a:rPr>
              <a:t>Cloud Services: </a:t>
            </a:r>
            <a:r>
              <a:rPr lang="en-US" dirty="0"/>
              <a:t>Cloud platforms store and process data, providing scalable and flexible resources for analytics, storage, and application deployment.</a:t>
            </a:r>
          </a:p>
          <a:p>
            <a:r>
              <a:rPr lang="en-US" b="1" dirty="0">
                <a:solidFill>
                  <a:srgbClr val="C00000"/>
                </a:solidFill>
              </a:rPr>
              <a:t>Analytics and Machine Learning: </a:t>
            </a:r>
            <a:r>
              <a:rPr lang="en-US" dirty="0"/>
              <a:t>Tools and algorithms that analyze the collected data, derive meaningful insights, and, in some cases, enable machine learning for predictive analytics and decision-making.</a:t>
            </a:r>
          </a:p>
          <a:p>
            <a:r>
              <a:rPr lang="en-US" b="1" dirty="0">
                <a:solidFill>
                  <a:srgbClr val="C00000"/>
                </a:solidFill>
              </a:rPr>
              <a:t>User Interface: </a:t>
            </a:r>
            <a:r>
              <a:rPr lang="en-US" dirty="0"/>
              <a:t>The interface through which users interact with the IoT system, often in the form of dashboards or applications. Users can monitor, control, and receive insights from connected devices.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099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48CC-EB6E-4241-CF00-53ED76D2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55CFD-2CEB-48A9-4051-8C9A39538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1253331"/>
            <a:ext cx="5965724" cy="5265456"/>
          </a:xfrm>
        </p:spPr>
        <p:txBody>
          <a:bodyPr/>
          <a:lstStyle/>
          <a:p>
            <a:r>
              <a:rPr lang="en-IN" dirty="0"/>
              <a:t>As discussed earlier, IoT does </a:t>
            </a:r>
            <a:r>
              <a:rPr lang="en-IN" dirty="0">
                <a:solidFill>
                  <a:srgbClr val="C00000"/>
                </a:solidFill>
              </a:rPr>
              <a:t>not have a fixed architecture</a:t>
            </a:r>
            <a:r>
              <a:rPr lang="en-IN" dirty="0"/>
              <a:t>, rather some defined needs, which can be divided into various layers, forming a basic architecture.</a:t>
            </a:r>
          </a:p>
          <a:p>
            <a:r>
              <a:rPr lang="en-IN" dirty="0"/>
              <a:t>The commonly used layers are: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Sensing Layer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Network Interface Layer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Data Processing Layer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Application Layer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59C750-8316-00ED-8D6F-B49F3954EE13}"/>
              </a:ext>
            </a:extLst>
          </p:cNvPr>
          <p:cNvGrpSpPr/>
          <p:nvPr/>
        </p:nvGrpSpPr>
        <p:grpSpPr>
          <a:xfrm>
            <a:off x="7156581" y="5178489"/>
            <a:ext cx="3209730" cy="1119674"/>
            <a:chOff x="7156581" y="5178489"/>
            <a:chExt cx="3209730" cy="111967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A53CB10-F087-7BCD-3BD5-CCB66C762752}"/>
                </a:ext>
              </a:extLst>
            </p:cNvPr>
            <p:cNvSpPr/>
            <p:nvPr/>
          </p:nvSpPr>
          <p:spPr>
            <a:xfrm>
              <a:off x="7156581" y="5178489"/>
              <a:ext cx="3209730" cy="457201"/>
            </a:xfrm>
            <a:prstGeom prst="rect">
              <a:avLst/>
            </a:prstGeom>
            <a:solidFill>
              <a:srgbClr val="AEC9E5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112A46"/>
                  </a:solidFill>
                  <a:latin typeface="Alice" pitchFamily="2" charset="0"/>
                  <a:ea typeface="Alice" pitchFamily="2" charset="0"/>
                </a:rPr>
                <a:t>Sensing Layer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86511D-E6C8-983B-B497-764ECD42BB25}"/>
                </a:ext>
              </a:extLst>
            </p:cNvPr>
            <p:cNvSpPr/>
            <p:nvPr/>
          </p:nvSpPr>
          <p:spPr>
            <a:xfrm>
              <a:off x="7156581" y="5635690"/>
              <a:ext cx="3209730" cy="662473"/>
            </a:xfrm>
            <a:prstGeom prst="rect">
              <a:avLst/>
            </a:prstGeom>
            <a:solidFill>
              <a:srgbClr val="D1F1D9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rgbClr val="112A46"/>
                  </a:solidFill>
                  <a:latin typeface="Alice" pitchFamily="2" charset="0"/>
                  <a:ea typeface="Alice" pitchFamily="2" charset="0"/>
                </a:rPr>
                <a:t>Physical Objects, Sensors &amp; Actuators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E81297-4D4C-59F2-F6B8-3670CE0FD684}"/>
              </a:ext>
            </a:extLst>
          </p:cNvPr>
          <p:cNvGrpSpPr/>
          <p:nvPr/>
        </p:nvGrpSpPr>
        <p:grpSpPr>
          <a:xfrm>
            <a:off x="7156581" y="3727579"/>
            <a:ext cx="3209730" cy="1119674"/>
            <a:chOff x="7156581" y="3727579"/>
            <a:chExt cx="3209730" cy="111967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13685C-03FB-D06C-F4DE-FC500DCFB3C8}"/>
                </a:ext>
              </a:extLst>
            </p:cNvPr>
            <p:cNvSpPr/>
            <p:nvPr/>
          </p:nvSpPr>
          <p:spPr>
            <a:xfrm>
              <a:off x="7156581" y="3727579"/>
              <a:ext cx="3209730" cy="457201"/>
            </a:xfrm>
            <a:prstGeom prst="rect">
              <a:avLst/>
            </a:prstGeom>
            <a:solidFill>
              <a:srgbClr val="AEC9E5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112A46"/>
                  </a:solidFill>
                  <a:latin typeface="Alice" pitchFamily="2" charset="0"/>
                  <a:ea typeface="Alice" pitchFamily="2" charset="0"/>
                </a:rPr>
                <a:t>Network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5F34AB-1F6C-F402-13FD-C7836B912240}"/>
                </a:ext>
              </a:extLst>
            </p:cNvPr>
            <p:cNvSpPr/>
            <p:nvPr/>
          </p:nvSpPr>
          <p:spPr>
            <a:xfrm>
              <a:off x="7156581" y="4184780"/>
              <a:ext cx="3209730" cy="662473"/>
            </a:xfrm>
            <a:prstGeom prst="rect">
              <a:avLst/>
            </a:prstGeom>
            <a:solidFill>
              <a:srgbClr val="D1F1D9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rgbClr val="112A46"/>
                  </a:solidFill>
                  <a:latin typeface="Alice" pitchFamily="2" charset="0"/>
                  <a:ea typeface="Alice" pitchFamily="2" charset="0"/>
                </a:rPr>
                <a:t>Network Gateways</a:t>
              </a:r>
            </a:p>
            <a:p>
              <a:pPr algn="ctr"/>
              <a:r>
                <a:rPr lang="en-IN" sz="1600" dirty="0">
                  <a:solidFill>
                    <a:srgbClr val="112A46"/>
                  </a:solidFill>
                  <a:latin typeface="Alice" pitchFamily="2" charset="0"/>
                  <a:ea typeface="Alice" pitchFamily="2" charset="0"/>
                </a:rPr>
                <a:t>(Data Acquisition Technologies)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8A5FB3-F013-B433-22D4-866D183D1C6E}"/>
              </a:ext>
            </a:extLst>
          </p:cNvPr>
          <p:cNvGrpSpPr/>
          <p:nvPr/>
        </p:nvGrpSpPr>
        <p:grpSpPr>
          <a:xfrm>
            <a:off x="7156581" y="2288334"/>
            <a:ext cx="3209730" cy="1119674"/>
            <a:chOff x="7156581" y="2288334"/>
            <a:chExt cx="3209730" cy="111967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04761C-2784-9852-2405-AE7549C052E2}"/>
                </a:ext>
              </a:extLst>
            </p:cNvPr>
            <p:cNvSpPr/>
            <p:nvPr/>
          </p:nvSpPr>
          <p:spPr>
            <a:xfrm>
              <a:off x="7156581" y="2288334"/>
              <a:ext cx="3209730" cy="457201"/>
            </a:xfrm>
            <a:prstGeom prst="rect">
              <a:avLst/>
            </a:prstGeom>
            <a:solidFill>
              <a:srgbClr val="AEC9E5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112A46"/>
                  </a:solidFill>
                  <a:latin typeface="Alice" pitchFamily="2" charset="0"/>
                  <a:ea typeface="Alice" pitchFamily="2" charset="0"/>
                </a:rPr>
                <a:t>Data Processing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823769-D989-EF14-130D-34CF25B1EF7E}"/>
                </a:ext>
              </a:extLst>
            </p:cNvPr>
            <p:cNvSpPr/>
            <p:nvPr/>
          </p:nvSpPr>
          <p:spPr>
            <a:xfrm>
              <a:off x="7156581" y="2745535"/>
              <a:ext cx="3209730" cy="662473"/>
            </a:xfrm>
            <a:prstGeom prst="rect">
              <a:avLst/>
            </a:prstGeom>
            <a:solidFill>
              <a:srgbClr val="D1F1D9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rgbClr val="112A46"/>
                  </a:solidFill>
                  <a:latin typeface="Alice" pitchFamily="2" charset="0"/>
                  <a:ea typeface="Alice" pitchFamily="2" charset="0"/>
                </a:rPr>
                <a:t>Processing Unit/Data Analysis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C2A9C2-5B3B-8F93-DBFD-E528776D705E}"/>
              </a:ext>
            </a:extLst>
          </p:cNvPr>
          <p:cNvGrpSpPr/>
          <p:nvPr/>
        </p:nvGrpSpPr>
        <p:grpSpPr>
          <a:xfrm>
            <a:off x="7156581" y="807102"/>
            <a:ext cx="3209730" cy="1119674"/>
            <a:chOff x="7156581" y="807102"/>
            <a:chExt cx="3209730" cy="111967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BA10B5-94DB-14C5-90CA-C328E04B752C}"/>
                </a:ext>
              </a:extLst>
            </p:cNvPr>
            <p:cNvSpPr/>
            <p:nvPr/>
          </p:nvSpPr>
          <p:spPr>
            <a:xfrm>
              <a:off x="7156581" y="807102"/>
              <a:ext cx="3209730" cy="457201"/>
            </a:xfrm>
            <a:prstGeom prst="rect">
              <a:avLst/>
            </a:prstGeom>
            <a:solidFill>
              <a:srgbClr val="AEC9E5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112A46"/>
                  </a:solidFill>
                  <a:latin typeface="Alice" pitchFamily="2" charset="0"/>
                  <a:ea typeface="Alice" pitchFamily="2" charset="0"/>
                </a:rPr>
                <a:t>Application Layer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DFDC769-F478-F1F4-5884-65484FC09DFF}"/>
                </a:ext>
              </a:extLst>
            </p:cNvPr>
            <p:cNvSpPr/>
            <p:nvPr/>
          </p:nvSpPr>
          <p:spPr>
            <a:xfrm>
              <a:off x="7156581" y="1264303"/>
              <a:ext cx="3209730" cy="662473"/>
            </a:xfrm>
            <a:prstGeom prst="rect">
              <a:avLst/>
            </a:prstGeom>
            <a:solidFill>
              <a:srgbClr val="D1F1D9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rgbClr val="112A46"/>
                  </a:solidFill>
                  <a:latin typeface="Alice" pitchFamily="2" charset="0"/>
                  <a:ea typeface="Alice" pitchFamily="2" charset="0"/>
                </a:rPr>
                <a:t>Smart Applications</a:t>
              </a:r>
            </a:p>
          </p:txBody>
        </p:sp>
      </p:grp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FE6FD50D-2500-E4E1-4464-2F785FE805EA}"/>
              </a:ext>
            </a:extLst>
          </p:cNvPr>
          <p:cNvSpPr/>
          <p:nvPr/>
        </p:nvSpPr>
        <p:spPr>
          <a:xfrm>
            <a:off x="6344817" y="807102"/>
            <a:ext cx="485192" cy="5491061"/>
          </a:xfrm>
          <a:prstGeom prst="upDownArrow">
            <a:avLst/>
          </a:prstGeom>
          <a:solidFill>
            <a:srgbClr val="D1F1D9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2129D-1925-7061-EBBA-C59F7B46E602}"/>
              </a:ext>
            </a:extLst>
          </p:cNvPr>
          <p:cNvSpPr txBox="1"/>
          <p:nvPr/>
        </p:nvSpPr>
        <p:spPr>
          <a:xfrm>
            <a:off x="5582413" y="417164"/>
            <a:ext cx="201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  <a:latin typeface="Alice" pitchFamily="2" charset="0"/>
                <a:ea typeface="Alice" pitchFamily="2" charset="0"/>
              </a:rPr>
              <a:t>Data-Control 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68CE68-0DF7-7230-0EF7-89BC7F3E3307}"/>
              </a:ext>
            </a:extLst>
          </p:cNvPr>
          <p:cNvSpPr txBox="1"/>
          <p:nvPr/>
        </p:nvSpPr>
        <p:spPr>
          <a:xfrm>
            <a:off x="10484093" y="5471076"/>
            <a:ext cx="1477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C00000"/>
                </a:solidFill>
                <a:latin typeface="Alice" pitchFamily="2" charset="0"/>
                <a:ea typeface="Alice" pitchFamily="2" charset="0"/>
              </a:rPr>
              <a:t>Data Gathering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71C39B-1ACF-0FE8-2580-AF017CFA3D75}"/>
              </a:ext>
            </a:extLst>
          </p:cNvPr>
          <p:cNvSpPr txBox="1"/>
          <p:nvPr/>
        </p:nvSpPr>
        <p:spPr>
          <a:xfrm>
            <a:off x="10484092" y="3956179"/>
            <a:ext cx="1477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C00000"/>
                </a:solidFill>
                <a:latin typeface="Alice" pitchFamily="2" charset="0"/>
                <a:ea typeface="Alice" pitchFamily="2" charset="0"/>
              </a:rPr>
              <a:t>Data Transmission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D1A24-A2E8-58A1-B423-395E8AA04ADA}"/>
              </a:ext>
            </a:extLst>
          </p:cNvPr>
          <p:cNvSpPr txBox="1"/>
          <p:nvPr/>
        </p:nvSpPr>
        <p:spPr>
          <a:xfrm>
            <a:off x="10484092" y="2544163"/>
            <a:ext cx="1477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C00000"/>
                </a:solidFill>
                <a:latin typeface="Alice" pitchFamily="2" charset="0"/>
                <a:ea typeface="Alice" pitchFamily="2" charset="0"/>
              </a:rPr>
              <a:t>Process Information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F4186E-9945-A7FD-72BD-15B2BE8FB6B1}"/>
              </a:ext>
            </a:extLst>
          </p:cNvPr>
          <p:cNvSpPr txBox="1"/>
          <p:nvPr/>
        </p:nvSpPr>
        <p:spPr>
          <a:xfrm>
            <a:off x="10484092" y="1063695"/>
            <a:ext cx="1477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C00000"/>
                </a:solidFill>
                <a:latin typeface="Alice" pitchFamily="2" charset="0"/>
                <a:ea typeface="Alice" pitchFamily="2" charset="0"/>
              </a:rPr>
              <a:t>Smart Application</a:t>
            </a:r>
          </a:p>
        </p:txBody>
      </p:sp>
    </p:spTree>
    <p:extLst>
      <p:ext uri="{BB962C8B-B14F-4D97-AF65-F5344CB8AC3E}">
        <p14:creationId xmlns:p14="http://schemas.microsoft.com/office/powerpoint/2010/main" val="2143715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DAEB-1FB0-3AA7-42C3-C521D747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Architecture: </a:t>
            </a:r>
            <a:r>
              <a:rPr lang="en-IN" dirty="0">
                <a:solidFill>
                  <a:srgbClr val="00B050"/>
                </a:solidFill>
              </a:rPr>
              <a:t>Sensing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A729-CB20-4229-F921-D2FB072BE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bottommost layer, installed at the endpoint/hardware level.</a:t>
            </a:r>
          </a:p>
          <a:p>
            <a:r>
              <a:rPr lang="en-IN" dirty="0"/>
              <a:t>Consists of: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Sensors: </a:t>
            </a:r>
            <a:r>
              <a:rPr lang="en-US" dirty="0"/>
              <a:t>Devices that measure physical parameters like temperature, motion, and light.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Actuators:</a:t>
            </a:r>
            <a:r>
              <a:rPr lang="en-US" dirty="0"/>
              <a:t> Devices enabling physical actions in response to collected data.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Sensor Nodes: </a:t>
            </a:r>
            <a:r>
              <a:rPr lang="en-US" dirty="0"/>
              <a:t>Devices with sensors, processing units, and communication capabilities.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Sensor Networks: </a:t>
            </a:r>
            <a:r>
              <a:rPr lang="en-US" dirty="0"/>
              <a:t>Connected nodes forming a network for data aggregation. Protocols like MQTT, LoRa or Zigbee are used.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Edge Computing: </a:t>
            </a:r>
            <a:r>
              <a:rPr lang="en-US" dirty="0"/>
              <a:t>Processing data on sensor nodes to reduce central system dependency.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Power Management: </a:t>
            </a:r>
            <a:r>
              <a:rPr lang="en-US" dirty="0"/>
              <a:t>Strategies to optimize power usage in battery-powered sensors.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Data Preprocessing: </a:t>
            </a:r>
            <a:r>
              <a:rPr lang="en-US" dirty="0"/>
              <a:t>Basic processing on sensor nodes before transmitting data.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Localization Systems: </a:t>
            </a:r>
            <a:r>
              <a:rPr lang="en-US" dirty="0"/>
              <a:t>Integration for accurate spatial 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4566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4F59C-8B84-3C8F-855A-A0BC8637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Architecture: </a:t>
            </a:r>
            <a:r>
              <a:rPr lang="en-IN" dirty="0">
                <a:solidFill>
                  <a:srgbClr val="00B050"/>
                </a:solidFill>
              </a:rPr>
              <a:t>Network Layer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573F3-527A-B360-1EC4-15FA71FE1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Layer responsible for facilitating communication between devices, sensors and the central system. Includes infrastructure &amp; protocols to enable Data Transfer.</a:t>
            </a:r>
          </a:p>
          <a:p>
            <a:r>
              <a:rPr lang="en-IN" dirty="0"/>
              <a:t>Consists of: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Communication Protocols: </a:t>
            </a:r>
            <a:r>
              <a:rPr lang="en-US" dirty="0"/>
              <a:t>Standardized protocols like MQTT, CoAP, and HTTP.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Wireless Technologies: </a:t>
            </a:r>
            <a:r>
              <a:rPr lang="en-US" dirty="0"/>
              <a:t>Wi-Fi, Bluetooth, Zigbee, LoRa, and cellular networks.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Gateways: </a:t>
            </a:r>
            <a:r>
              <a:rPr lang="en-US" dirty="0"/>
              <a:t>Devices that bridge local IoT devices to the cloud.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Mesh Networks: </a:t>
            </a:r>
            <a:r>
              <a:rPr lang="en-US" dirty="0"/>
              <a:t>Devices forming networks to relay data and enhance coverage.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Routing and Switching: </a:t>
            </a:r>
            <a:r>
              <a:rPr lang="en-US" dirty="0"/>
              <a:t>Infrastructure components directing data traffic efficiently.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Security Measures: </a:t>
            </a:r>
            <a:r>
              <a:rPr lang="en-US" dirty="0"/>
              <a:t>Encryption, authentication, and secure channels for data protection.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Quality of Service (QoS): </a:t>
            </a:r>
            <a:r>
              <a:rPr lang="en-US" dirty="0"/>
              <a:t>Policies to prioritize critical data traffic.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Scalability: </a:t>
            </a:r>
            <a:r>
              <a:rPr lang="en-US" dirty="0"/>
              <a:t>Design considerations for accommodating a growing number of devices.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IPv6 Implementation: </a:t>
            </a:r>
            <a:r>
              <a:rPr lang="en-US" dirty="0"/>
              <a:t>Larger address space for the increasing number of connected devices.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Network Management: </a:t>
            </a:r>
            <a:r>
              <a:rPr lang="en-US" dirty="0"/>
              <a:t>Tools for monitoring, managing, and troubleshooting the IoT network.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Edge Computing Integration: </a:t>
            </a:r>
            <a:r>
              <a:rPr lang="en-US" dirty="0"/>
              <a:t>Localized data processing for reduced latency.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480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49C3-8E60-2C61-1EA2-09FBB656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Architecture: </a:t>
            </a:r>
            <a:r>
              <a:rPr lang="en-IN" dirty="0">
                <a:solidFill>
                  <a:srgbClr val="00B050"/>
                </a:solidFill>
              </a:rPr>
              <a:t>Data Processing Layer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999EF-0459-C618-12C2-608307037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Handles analysis, interpretation and utilization of the data collected from sensors and devices.</a:t>
            </a:r>
          </a:p>
          <a:p>
            <a:r>
              <a:rPr lang="en-IN" dirty="0"/>
              <a:t>Involves data processing into meaningful information useful for decision making.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Data Storage: </a:t>
            </a:r>
            <a:r>
              <a:rPr lang="en-US" dirty="0"/>
              <a:t>Storing collected data in databases or data warehouses.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Data Processing Engines: </a:t>
            </a:r>
            <a:r>
              <a:rPr lang="en-US" dirty="0"/>
              <a:t>Analyzing and transforming raw data into actionable insights.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Analytics Tools: </a:t>
            </a:r>
            <a:r>
              <a:rPr lang="en-US" dirty="0"/>
              <a:t>Platforms for advanced analytics, visualization, and reporting.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Machine Learning Algorithms: </a:t>
            </a:r>
            <a:r>
              <a:rPr lang="en-US" dirty="0"/>
              <a:t>Implementing models for predictive analytics.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Complex Event Processing (CEP): </a:t>
            </a:r>
            <a:r>
              <a:rPr lang="en-US" dirty="0"/>
              <a:t>Identifying and responding to real-time complex events.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Normalization and Transformation: </a:t>
            </a:r>
            <a:r>
              <a:rPr lang="en-US" dirty="0"/>
              <a:t>Standardizing data formats for consistency.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Filtering and Aggregation: </a:t>
            </a:r>
            <a:r>
              <a:rPr lang="en-US" dirty="0"/>
              <a:t>Discarding irrelevant data and aggregating relevant information.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Security Measures: </a:t>
            </a:r>
            <a:r>
              <a:rPr lang="en-US" dirty="0"/>
              <a:t>Implementing protocols to protect processed data.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Batch Processing and Stream Processing: </a:t>
            </a:r>
            <a:r>
              <a:rPr lang="en-US" dirty="0"/>
              <a:t>Handling data in batches or real-time streams.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Rule Engines: Enforcing </a:t>
            </a:r>
            <a:r>
              <a:rPr lang="en-US" dirty="0"/>
              <a:t>predefined rules and policies for automation.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APIs and Interoperability: </a:t>
            </a:r>
            <a:r>
              <a:rPr lang="en-US" dirty="0"/>
              <a:t>Providing interfaces for seamless integration.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607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748D-79D0-8276-0A8B-794BDACA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Architecture: </a:t>
            </a:r>
            <a:r>
              <a:rPr lang="en-IN" dirty="0">
                <a:solidFill>
                  <a:srgbClr val="00B050"/>
                </a:solidFill>
              </a:rPr>
              <a:t>Application Layer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3877D-4DDC-FBCB-AB48-1A694AB57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User-facing Component, where end-users interact with IoT system.</a:t>
            </a:r>
          </a:p>
          <a:p>
            <a:r>
              <a:rPr lang="en-IN" dirty="0"/>
              <a:t>Dashboard like, enabling users to monitor, control and derive insights from connected devices.</a:t>
            </a:r>
          </a:p>
          <a:p>
            <a:r>
              <a:rPr lang="en-IN" dirty="0"/>
              <a:t>Consists of: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User Interface (UI): </a:t>
            </a:r>
            <a:r>
              <a:rPr lang="en-US" dirty="0"/>
              <a:t>Interaction point for users with web dashboards or mobile apps.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Applications: </a:t>
            </a:r>
            <a:r>
              <a:rPr lang="en-US" dirty="0"/>
              <a:t>Software delivering specific functionalities or services based on processed data.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Dashboards: </a:t>
            </a:r>
            <a:r>
              <a:rPr lang="en-US" dirty="0"/>
              <a:t>Visual representations for monitoring device status and performance.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Reporting Tools: </a:t>
            </a:r>
            <a:r>
              <a:rPr lang="en-US" dirty="0"/>
              <a:t>Generate reports and analytics for decision-making.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Alerts and Notifications: </a:t>
            </a:r>
            <a:r>
              <a:rPr lang="en-US" dirty="0"/>
              <a:t>Notify users based on predefined events or anomalies.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Automation Systems: </a:t>
            </a:r>
            <a:r>
              <a:rPr lang="en-US" dirty="0"/>
              <a:t>Implement automated actions in response to specific conditions.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Integration with Third-Party Services: </a:t>
            </a:r>
            <a:r>
              <a:rPr lang="en-US" dirty="0"/>
              <a:t>Seamless integration with external platforms.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Customization and Personalization: </a:t>
            </a:r>
            <a:r>
              <a:rPr lang="en-US" dirty="0"/>
              <a:t>Tailor the IoT experience to user preferences.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Application Programming Interfaces (APIs): </a:t>
            </a:r>
            <a:r>
              <a:rPr lang="en-US" dirty="0"/>
              <a:t>Provide interfaces for external system integration.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Scalability:</a:t>
            </a:r>
            <a:r>
              <a:rPr lang="en-US" dirty="0"/>
              <a:t> Design for accommodating a growing number of users and devices.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User Authentication and Access Control: </a:t>
            </a:r>
            <a:r>
              <a:rPr lang="en-US" dirty="0"/>
              <a:t>Security mech. for user verification and access control.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Feedback Mechanisms: </a:t>
            </a:r>
            <a:r>
              <a:rPr lang="en-US" dirty="0"/>
              <a:t>Gather user feedback to improve the overall experience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21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72BD-BCD8-0EA8-4FFF-2F6A8B2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Challenges: </a:t>
            </a:r>
            <a:r>
              <a:rPr lang="en-IN" dirty="0">
                <a:solidFill>
                  <a:srgbClr val="00B050"/>
                </a:solidFill>
              </a:rPr>
              <a:t>Design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469D3-05DD-BAFF-B985-D7E5E460F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Various design challenges are faced while developing an IoT system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Connectivity:</a:t>
            </a:r>
          </a:p>
          <a:p>
            <a:pPr lvl="2"/>
            <a:r>
              <a:rPr lang="en-IN" dirty="0"/>
              <a:t>Network must be available as per the required range</a:t>
            </a:r>
          </a:p>
          <a:p>
            <a:pPr lvl="2"/>
            <a:r>
              <a:rPr lang="en-IN" dirty="0"/>
              <a:t>Usually 2.4 GHz or 5 GHz band is used, as it is freely available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Power Requirements:</a:t>
            </a:r>
          </a:p>
          <a:p>
            <a:pPr lvl="2"/>
            <a:r>
              <a:rPr lang="en-IN" dirty="0"/>
              <a:t>Sometimes IoT devices are placed at some remote location, hence are battery operated, so the power requirements must be taken into consideration for longer battery life.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Storage and Computational Capabilities:</a:t>
            </a:r>
          </a:p>
          <a:p>
            <a:pPr lvl="2"/>
            <a:r>
              <a:rPr lang="en-IN" dirty="0"/>
              <a:t>Remote device usually struggle with the computational power and storage capacity, so the software needs to be optimised in a way that it can work with these constraints.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2423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72BD-BCD8-0EA8-4FFF-2F6A8B23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Challenges: </a:t>
            </a:r>
            <a:r>
              <a:rPr lang="en-IN" dirty="0">
                <a:solidFill>
                  <a:srgbClr val="00B050"/>
                </a:solidFill>
              </a:rPr>
              <a:t>Design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469D3-05DD-BAFF-B985-D7E5E460F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Various design challenges are faced while developing an IoT system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Complexity:</a:t>
            </a:r>
          </a:p>
          <a:p>
            <a:pPr lvl="2"/>
            <a:r>
              <a:rPr lang="en-IN" dirty="0"/>
              <a:t>Various Engineering field knowledge is required to build an IoT system making it a complex system to understand.</a:t>
            </a:r>
          </a:p>
          <a:p>
            <a:pPr lvl="2"/>
            <a:r>
              <a:rPr lang="en-US" dirty="0"/>
              <a:t>The toolkits, software and hardware are not abundant and real skill is required to build an application.</a:t>
            </a:r>
            <a:endParaRPr lang="en-IN" dirty="0"/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Data Extraction from complex environment:</a:t>
            </a:r>
          </a:p>
          <a:p>
            <a:pPr lvl="2"/>
            <a:r>
              <a:rPr lang="en-IN" dirty="0"/>
              <a:t>If the environment is complex then changing conditions may affect the working capability of the sensor, this factor must be taken into consideration.</a:t>
            </a:r>
          </a:p>
          <a:p>
            <a:pPr lvl="2"/>
            <a:r>
              <a:rPr lang="en-IN" dirty="0"/>
              <a:t>Also that environment must have Internet connectivity so the data can be transmitted continuously for monitoring and extraction.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600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0475-1CB8-FA84-D34A-34475E81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IoT Challenges: </a:t>
            </a:r>
            <a:r>
              <a:rPr lang="en-IN" dirty="0">
                <a:solidFill>
                  <a:srgbClr val="00B050"/>
                </a:solidFill>
              </a:rPr>
              <a:t>Security 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A7A6B-C3ED-15C6-B261-B3F24F1D4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 large part of IoT covers transmission and collection of some useful data over various environments &amp; networks. This involves security challenges.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Security &amp; Personal Safety: </a:t>
            </a:r>
          </a:p>
          <a:p>
            <a:pPr lvl="2"/>
            <a:r>
              <a:rPr lang="en-US" dirty="0"/>
              <a:t>Weak or unencrypted communication between IoT devices and the network may expose data to interception or manipulation.</a:t>
            </a:r>
          </a:p>
          <a:p>
            <a:pPr lvl="2"/>
            <a:r>
              <a:rPr lang="en-US" dirty="0"/>
              <a:t>Weak authentication mechanisms or default credentials may make it easier for unauthorized entities to access IoT devices.</a:t>
            </a:r>
          </a:p>
          <a:p>
            <a:pPr lvl="2"/>
            <a:r>
              <a:rPr lang="en-US" dirty="0"/>
              <a:t>Inadequate authorization controls may result in unauthorized actions or data access.</a:t>
            </a:r>
          </a:p>
          <a:p>
            <a:pPr lvl="2"/>
            <a:r>
              <a:rPr lang="en-US" dirty="0"/>
              <a:t>Insecure network configurations, such as open ports or weak network segmentation, may expose IoT devices to external attacks.</a:t>
            </a:r>
          </a:p>
          <a:p>
            <a:pPr lvl="2"/>
            <a:r>
              <a:rPr lang="en-US" dirty="0"/>
              <a:t>Lack of proper network monitoring can hinder the detection of malicious activities.</a:t>
            </a:r>
            <a:endParaRPr lang="en-IN" dirty="0"/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Privacy: </a:t>
            </a:r>
          </a:p>
          <a:p>
            <a:pPr lvl="2"/>
            <a:r>
              <a:rPr lang="en-US" dirty="0"/>
              <a:t>The vast amount of data generated by IoT devices, often of a sensitive nature, raises concerns about data privacy.</a:t>
            </a:r>
          </a:p>
          <a:p>
            <a:pPr lvl="2"/>
            <a:r>
              <a:rPr lang="en-US" dirty="0"/>
              <a:t>Inadequate data anonymization and protection may lead to privacy breaches.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124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2182</Words>
  <Application>Microsoft Office PowerPoint</Application>
  <PresentationFormat>Widescreen</PresentationFormat>
  <Paragraphs>186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Alice</vt:lpstr>
      <vt:lpstr>Arial</vt:lpstr>
      <vt:lpstr>Artifika</vt:lpstr>
      <vt:lpstr>Calibri</vt:lpstr>
      <vt:lpstr>Calibri Light</vt:lpstr>
      <vt:lpstr>Ephesis</vt:lpstr>
      <vt:lpstr>Office Theme</vt:lpstr>
      <vt:lpstr>Fundamentals of IoT</vt:lpstr>
      <vt:lpstr>Teaching Scheme</vt:lpstr>
      <vt:lpstr>Course Outcomes</vt:lpstr>
      <vt:lpstr>Introduction to IoT</vt:lpstr>
      <vt:lpstr>Topics to be covered</vt:lpstr>
      <vt:lpstr>IoT (Internet of Things), What???</vt:lpstr>
      <vt:lpstr>IoT (Internet of Things), What???</vt:lpstr>
      <vt:lpstr>IoT (Internet of Things), What???</vt:lpstr>
      <vt:lpstr>IoT (Internet of Things), What???</vt:lpstr>
      <vt:lpstr>IoT Characteristics</vt:lpstr>
      <vt:lpstr>IoT Characteristics</vt:lpstr>
      <vt:lpstr>IoT Applications</vt:lpstr>
      <vt:lpstr>IoT Applications</vt:lpstr>
      <vt:lpstr>IoT Applications</vt:lpstr>
      <vt:lpstr>Key Components in IoT System</vt:lpstr>
      <vt:lpstr>IoT Architecture</vt:lpstr>
      <vt:lpstr>IoT Architecture: Sensing Layer</vt:lpstr>
      <vt:lpstr>IoT Architecture: Network Layer</vt:lpstr>
      <vt:lpstr>IoT Architecture: Data Processing Layer</vt:lpstr>
      <vt:lpstr>IoT Architecture: Application Layer</vt:lpstr>
      <vt:lpstr>IoT Challenges: Design Challenges</vt:lpstr>
      <vt:lpstr>IoT Challenges: Design Challenges</vt:lpstr>
      <vt:lpstr>IoT Challenges: Security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Niraj Trivedi</dc:creator>
  <cp:lastModifiedBy>Niraj Trivedi</cp:lastModifiedBy>
  <cp:revision>11</cp:revision>
  <dcterms:created xsi:type="dcterms:W3CDTF">2024-01-07T02:26:56Z</dcterms:created>
  <dcterms:modified xsi:type="dcterms:W3CDTF">2024-01-09T10:53:35Z</dcterms:modified>
</cp:coreProperties>
</file>